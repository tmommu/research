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3014e0a3-0ad5-c118-a810-8312db53a9b8}">
          <p14:sldIdLst>
            <p14:sldId id="256"/>
          </p14:sldIdLst>
        </p14:section>
        <p14:section name="Case" id="{de66f8f7-674e-d2fe-88d6-11f0ce91df9a}">
          <p14:sldIdLst>
            <p14:sldId id="257"/>
            <p14:sldId id="258"/>
            <p14:sldId id="259"/>
          </p14:sldIdLst>
        </p14:section>
        <p14:section name="Delivery" id="{ab558e4c-08b1-2bf9-dfc3-e60bcfcde734}">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0"/>
                </a:solidFill>
                <a:latin typeface="+mn-lt"/>
              </a:defRPr>
            </a:pPr>
            <a:r>
              <a:rPr sz="1200" b="0" i="0" u="none" strike="noStrike">
                <a:solidFill>
                  <a:srgbClr val="0E3B40"/>
                </a:solidFill>
                <a:latin typeface="+mn-lt"/>
              </a:rPr>
              <a:t>Budget by stage (PHP, estimates)</a:t>
            </a:r>
          </a:p>
        </c:rich>
      </c:tx>
      <c:layout/>
      <c:overlay val="0"/>
    </c:title>
    <c:autoTitleDeleted val="0"/>
    <c:plotArea>
      <c:layout/>
      <c:barChart>
        <c:barDir val="bar"/>
        <c:grouping val="clustered"/>
        <c:varyColors val="0"/>
        <c:ser>
          <c:idx val="0"/>
          <c:order val="0"/>
          <c:tx>
            <c:strRef>
              <c:f>Sheet1!$B$1</c:f>
              <c:strCache>
                <c:ptCount val="1"/>
                <c:pt idx="0">
                  <c:v>PHP</c:v>
                </c:pt>
              </c:strCache>
            </c:strRef>
          </c:tx>
          <c:spPr>
            <a:solidFill>
              <a:srgbClr val="0B7A75"/>
            </a:solidFill>
            <a:effectLst/>
          </c:spPr>
          <c:invertIfNegative val="0"/>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cat>
            <c:multiLvlStrRef>
              <c:f>Sheet1!$A$2:$A$5</c:f>
              <c:multiLvlStrCache>
                <c:ptCount val="4"/>
                <c:lvl>
                  <c:pt idx="0">
                    <c:v>Bench</c:v>
                  </c:pt>
                  <c:pt idx="1">
                    <c:v>Passive trap</c:v>
                  </c:pt>
                  <c:pt idx="2">
                    <c:v>Arm and sensor</c:v>
                  </c:pt>
                  <c:pt idx="3">
                    <c:v>Contingency</c:v>
                  </c:pt>
                </c:lvl>
              </c:multiLvlStrCache>
            </c:multiLvlStrRef>
          </c:cat>
          <c:val>
            <c:numRef>
              <c:f>Sheet1!$B$2:$B$5</c:f>
              <c:numCache>
                <c:formatCode>General</c:formatCode>
                <c:ptCount val="4"/>
                <c:pt idx="0">
                  <c:v>1800</c:v>
                </c:pt>
                <c:pt idx="1">
                  <c:v>2500</c:v>
                </c:pt>
                <c:pt idx="2">
                  <c:v>1350</c:v>
                </c:pt>
                <c:pt idx="3">
                  <c:v>350</c:v>
                </c:pt>
              </c:numCache>
            </c:numRef>
          </c:val>
        </c:ser>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72B"/>
                </a:solidFill>
                <a:latin typeface="+mn-lt"/>
              </a:defRPr>
            </a:pPr>
            <a:endParaRPr lang="en-US"/>
          </a:p>
        </c:txPr>
        <c:crossAx val="2094734552"/>
        <c:crosses val="autoZero"/>
        <c:auto val="1"/>
        <c:lblAlgn val="ctr"/>
        <c:noMultiLvlLbl val="1"/>
      </c:catAx>
      <c:valAx>
        <c:axId val="2094734552"/>
        <c:scaling>
          <c:orientation val="minMax"/>
          <c:max val="32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pitch in one sentence: SALOK removes floating plastic from a creek and counts every item with a camera, giving the barangay the evidence the law needs to hold packaging makers accountable. Name the team and adviser, then move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Plastic reaches the sea through creeks and esteros. Cleanups record bulk weight only. RA 11898 makes producers responsible for packaging, which needs item-level proof that barangays cannot currently produce. Flooding from blocked channels is a secondary hazard on the same creek. [VERIFY the Meijer et al. 2021 ranking and the RA 11898 scope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drawing left to right. The boom herds floating plastic to the bank. The camera counts each item and also triggers the arm, so one inexpensive chip yields evidence and saves energy. Everything electrical sits high on the post. Flood warning is a secondary feature: an ultrasonic sensor reads the water level against a painted gauge.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components is new. Van Lieshout et al. (2020) count floating plastic from bridge cameras but remove nothing. HydroSentinel (2026) is a moving boat. Trash traps remove plastic but record weight only. Brand audits name companies but are periodic and manual. SALOK is the continuous, community-owned, low-cost counterpart. Our search was limited, and we say so. [Confirm each citation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is bought only after the previous gate passes, so a failed model or a rejected site does not strand money. Stage 3 begins with a wet bench rig using real hyacinth, estero silt and a little cooking oil. Prices are estimates to confirm locally. The barangay signs a maintenance agreement naming who empties the bin weekly. [Fill in the barangay and estero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limits. One unit lifts a small mass of plastic. The significance lies in a design cheap enough to copy and data open enough to combine. Until a second barangay builds a unit, the wider reach is a plan, not a result. The pilot proves the method at one creek.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4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200" b="1" dirty="0">
                <a:solidFill>
                  <a:srgbClr val="0E3B4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pple 1"/>
          <p:cNvSpPr/>
          <p:nvPr/>
        </p:nvSpPr>
        <p:spPr>
          <a:xfrm>
            <a:off x="5669280" y="914400"/>
            <a:ext cx="3291840" cy="3291840"/>
          </a:xfrm>
          <a:prstGeom prst="ellipse">
            <a:avLst/>
          </a:prstGeom>
          <a:ln w="19050">
            <a:solidFill>
              <a:schemeClr val="accent1">
                <a:alpha val="70000"/>
              </a:schemeClr>
            </a:solidFill>
            <a:prstDash val="solid"/>
          </a:ln>
        </p:spPr>
      </p:sp>
      <p:sp>
        <p:nvSpPr>
          <p:cNvPr id="3" name="Ripple 2"/>
          <p:cNvSpPr/>
          <p:nvPr/>
        </p:nvSpPr>
        <p:spPr>
          <a:xfrm>
            <a:off x="6080760" y="1325880"/>
            <a:ext cx="2468880" cy="2468880"/>
          </a:xfrm>
          <a:prstGeom prst="ellipse">
            <a:avLst/>
          </a:prstGeom>
          <a:ln w="19050">
            <a:solidFill>
              <a:schemeClr val="accent1">
                <a:alpha val="55000"/>
              </a:schemeClr>
            </a:solidFill>
            <a:prstDash val="solid"/>
          </a:ln>
        </p:spPr>
      </p:sp>
      <p:sp>
        <p:nvSpPr>
          <p:cNvPr id="4" name="Ripple 3"/>
          <p:cNvSpPr/>
          <p:nvPr/>
        </p:nvSpPr>
        <p:spPr>
          <a:xfrm>
            <a:off x="6492240" y="1737360"/>
            <a:ext cx="1645920" cy="1645920"/>
          </a:xfrm>
          <a:prstGeom prst="ellipse">
            <a:avLst/>
          </a:prstGeom>
          <a:ln w="19050">
            <a:solidFill>
              <a:schemeClr val="accent1">
                <a:alpha val="40000"/>
              </a:schemeClr>
            </a:solidFill>
            <a:prstDash val="solid"/>
          </a:ln>
        </p:spPr>
      </p:sp>
      <p:sp>
        <p:nvSpPr>
          <p:cNvPr id="5" name="Plastic dot 1"/>
          <p:cNvSpPr/>
          <p:nvPr/>
        </p:nvSpPr>
        <p:spPr>
          <a:xfrm>
            <a:off x="6858000" y="2194560"/>
            <a:ext cx="182880" cy="182880"/>
          </a:xfrm>
          <a:prstGeom prst="ellipse">
            <a:avLst/>
          </a:prstGeom>
          <a:solidFill>
            <a:schemeClr val="accent2"/>
          </a:solidFill>
          <a:ln w="12700">
            <a:solidFill>
              <a:schemeClr val="accent2"/>
            </a:solidFill>
            <a:prstDash val="solid"/>
          </a:ln>
        </p:spPr>
      </p:sp>
      <p:sp>
        <p:nvSpPr>
          <p:cNvPr id="6" name="Plastic dot 2"/>
          <p:cNvSpPr/>
          <p:nvPr/>
        </p:nvSpPr>
        <p:spPr>
          <a:xfrm>
            <a:off x="7589520" y="2926080"/>
            <a:ext cx="182880" cy="182880"/>
          </a:xfrm>
          <a:prstGeom prst="ellipse">
            <a:avLst/>
          </a:prstGeom>
          <a:solidFill>
            <a:schemeClr val="accent2"/>
          </a:solidFill>
          <a:ln w="12700">
            <a:solidFill>
              <a:schemeClr val="accent2"/>
            </a:solidFill>
            <a:prstDash val="solid"/>
          </a:ln>
        </p:spPr>
      </p:sp>
      <p:sp>
        <p:nvSpPr>
          <p:cNvPr id="7" name="Plastic dot 3"/>
          <p:cNvSpPr/>
          <p:nvPr/>
        </p:nvSpPr>
        <p:spPr>
          <a:xfrm>
            <a:off x="7818120" y="1920240"/>
            <a:ext cx="182880" cy="182880"/>
          </a:xfrm>
          <a:prstGeom prst="ellipse">
            <a:avLst/>
          </a:prstGeom>
          <a:solidFill>
            <a:schemeClr val="accent2"/>
          </a:solidFill>
          <a:ln w="12700">
            <a:solidFill>
              <a:schemeClr val="accent2"/>
            </a:solidFill>
            <a:prstDash val="solid"/>
          </a:ln>
        </p:spPr>
      </p:sp>
      <p:sp>
        <p:nvSpPr>
          <p:cNvPr id="8" name="Kicker"/>
          <p:cNvSpPr txBox="1"/>
          <p:nvPr/>
        </p:nvSpPr>
        <p:spPr>
          <a:xfrm>
            <a:off x="548640" y="548640"/>
            <a:ext cx="6400800" cy="36576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Samsung Solve for Tomorrow 2026 · Environmental Sustainability through Technology</a:t>
            </a:r>
            <a:endParaRPr lang="en-US" sz="1300" dirty="0"/>
          </a:p>
        </p:txBody>
      </p:sp>
      <p:sp>
        <p:nvSpPr>
          <p:cNvPr id="9" name="Title"/>
          <p:cNvSpPr txBox="1"/>
          <p:nvPr/>
        </p:nvSpPr>
        <p:spPr>
          <a:xfrm>
            <a:off x="548640" y="1143000"/>
            <a:ext cx="5852160" cy="100584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SALOK</a:t>
            </a:r>
            <a:endParaRPr lang="en-US" sz="6600" dirty="0"/>
          </a:p>
        </p:txBody>
      </p:sp>
      <p:sp>
        <p:nvSpPr>
          <p:cNvPr id="10" name="Tagline"/>
          <p:cNvSpPr txBox="1"/>
          <p:nvPr/>
        </p:nvSpPr>
        <p:spPr>
          <a:xfrm>
            <a:off x="548640" y="2286000"/>
            <a:ext cx="5669280" cy="1097280"/>
          </a:xfrm>
          <a:prstGeom prst="rect">
            <a:avLst/>
          </a:prstGeom>
          <a:noFill/>
          <a:ln/>
        </p:spPr>
        <p:txBody>
          <a:bodyPr wrap="square" lIns="0" tIns="0" rIns="0" bIns="0" rtlCol="0" anchor="t"/>
          <a:lstStyle/>
          <a:p>
            <a:pPr indent="0" marL="0">
              <a:buNone/>
            </a:pPr>
            <a:r>
              <a:rPr lang="en-US" sz="2000" dirty="0">
                <a:solidFill>
                  <a:schemeClr val="bg1"/>
                </a:solidFill>
                <a:latin typeface="Calibri" pitchFamily="34" charset="0"/>
                <a:ea typeface="Calibri" pitchFamily="34" charset="-122"/>
                <a:cs typeface="Calibri" pitchFamily="34" charset="-120"/>
              </a:rPr>
              <a:t>A PHP 6,000 solar-powered estero guardian that lifts floating plastic out of the water and counts every item as evidence for producer accountability</a:t>
            </a:r>
            <a:endParaRPr lang="en-US" sz="2000" dirty="0"/>
          </a:p>
        </p:txBody>
      </p:sp>
      <p:sp>
        <p:nvSpPr>
          <p:cNvPr id="11" name="Team"/>
          <p:cNvSpPr txBox="1"/>
          <p:nvPr/>
        </p:nvSpPr>
        <p:spPr>
          <a:xfrm>
            <a:off x="548640" y="3931920"/>
            <a:ext cx="6400800" cy="731520"/>
          </a:xfrm>
          <a:prstGeom prst="rect">
            <a:avLst/>
          </a:prstGeom>
          <a:noFill/>
          <a:ln/>
        </p:spPr>
        <p:txBody>
          <a:bodyPr wrap="square" lIns="0" tIns="0" rIns="0" bIns="0" rtlCol="0" anchor="ctr"/>
          <a:lstStyle/>
          <a:p>
            <a:pPr indent="0" marL="0">
              <a:buNone/>
            </a:pPr>
            <a:r>
              <a:rPr lang="en-US" sz="1400" b="1" dirty="0">
                <a:solidFill>
                  <a:schemeClr val="accent4"/>
                </a:solidFill>
                <a:latin typeface="Calibri" pitchFamily="34" charset="0"/>
                <a:ea typeface="Calibri" pitchFamily="34" charset="-122"/>
                <a:cs typeface="Calibri" pitchFamily="34" charset="-120"/>
              </a:rPr>
              <a:t>Quezon City Science High School</a:t>
            </a:r>
            <a:endParaRPr lang="en-US" sz="1400" dirty="0"/>
          </a:p>
          <a:p>
            <a:pPr indent="0" marL="0">
              <a:buNone/>
            </a:pPr>
            <a:r>
              <a:rPr lang="en-US" sz="1400" dirty="0">
                <a:solidFill>
                  <a:schemeClr val="accent4"/>
                </a:solidFill>
                <a:latin typeface="Calibri" pitchFamily="34" charset="0"/>
                <a:ea typeface="Calibri" pitchFamily="34" charset="-122"/>
                <a:cs typeface="Calibri" pitchFamily="34" charset="-120"/>
              </a:rPr>
              <a:t>[TEAM NAMES, Grade 10]  ·  Adviser: [NAME]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Our creeks carry plastic unrecorded</a:t>
            </a:r>
            <a:endParaRPr lang="en-US" sz="3200" dirty="0"/>
          </a:p>
        </p:txBody>
      </p:sp>
      <p:sp>
        <p:nvSpPr>
          <p:cNvPr id="3" name="Card 1"/>
          <p:cNvSpPr/>
          <p:nvPr/>
        </p:nvSpPr>
        <p:spPr>
          <a:xfrm>
            <a:off x="45720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Icon circle 1"/>
          <p:cNvSpPr/>
          <p:nvPr/>
        </p:nvSpPr>
        <p:spPr>
          <a:xfrm>
            <a:off x="685800" y="1481328"/>
            <a:ext cx="548640" cy="548640"/>
          </a:xfrm>
          <a:prstGeom prst="ellipse">
            <a:avLst/>
          </a:prstGeom>
          <a:solidFill>
            <a:schemeClr val="accent1"/>
          </a:solidFill>
          <a:ln w="12700">
            <a:solidFill>
              <a:schemeClr val="accent1"/>
            </a:solidFill>
            <a:prstDash val="solid"/>
          </a:ln>
        </p:spPr>
      </p:sp>
      <p:pic>
        <p:nvPicPr>
          <p:cNvPr id="5" name="Icon 1" descr="Removal is invisible">    </p:cNvPr>
          <p:cNvPicPr>
            <a:picLocks noChangeAspect="1"/>
          </p:cNvPicPr>
          <p:nvPr/>
        </p:nvPicPr>
        <p:blipFill>
          <a:blip r:embed="rId1"/>
          <a:stretch>
            <a:fillRect/>
          </a:stretch>
        </p:blipFill>
        <p:spPr>
          <a:xfrm>
            <a:off x="822960" y="1618488"/>
            <a:ext cx="274320" cy="274320"/>
          </a:xfrm>
          <a:prstGeom prst="rect">
            <a:avLst/>
          </a:prstGeom>
        </p:spPr>
      </p:pic>
      <p:sp>
        <p:nvSpPr>
          <p:cNvPr id="6" name="Card heading 1"/>
          <p:cNvSpPr txBox="1"/>
          <p:nvPr/>
        </p:nvSpPr>
        <p:spPr>
          <a:xfrm>
            <a:off x="68580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Removal is invisible</a:t>
            </a:r>
            <a:endParaRPr lang="en-US" sz="1700" dirty="0"/>
          </a:p>
        </p:txBody>
      </p:sp>
      <p:sp>
        <p:nvSpPr>
          <p:cNvPr id="7" name="Card body 1"/>
          <p:cNvSpPr txBox="1"/>
          <p:nvPr/>
        </p:nvSpPr>
        <p:spPr>
          <a:xfrm>
            <a:off x="68580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Cleanups are weighed in bulk. Nothing is kept about what the plastic was, so the same items return.</a:t>
            </a:r>
            <a:endParaRPr lang="en-US" sz="1300" dirty="0"/>
          </a:p>
        </p:txBody>
      </p:sp>
      <p:sp>
        <p:nvSpPr>
          <p:cNvPr id="8" name="Card 2"/>
          <p:cNvSpPr/>
          <p:nvPr/>
        </p:nvSpPr>
        <p:spPr>
          <a:xfrm>
            <a:off x="324612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9" name="Icon circle 2"/>
          <p:cNvSpPr/>
          <p:nvPr/>
        </p:nvSpPr>
        <p:spPr>
          <a:xfrm>
            <a:off x="3474720" y="1481328"/>
            <a:ext cx="548640" cy="548640"/>
          </a:xfrm>
          <a:prstGeom prst="ellipse">
            <a:avLst/>
          </a:prstGeom>
          <a:solidFill>
            <a:schemeClr val="accent1"/>
          </a:solidFill>
          <a:ln w="12700">
            <a:solidFill>
              <a:schemeClr val="accent1"/>
            </a:solidFill>
            <a:prstDash val="solid"/>
          </a:ln>
        </p:spPr>
      </p:sp>
      <p:pic>
        <p:nvPicPr>
          <p:cNvPr id="10" name="Icon 2" descr="No item-level proof">    </p:cNvPr>
          <p:cNvPicPr>
            <a:picLocks noChangeAspect="1"/>
          </p:cNvPicPr>
          <p:nvPr/>
        </p:nvPicPr>
        <p:blipFill>
          <a:blip r:embed="rId2"/>
          <a:stretch>
            <a:fillRect/>
          </a:stretch>
        </p:blipFill>
        <p:spPr>
          <a:xfrm>
            <a:off x="3611880" y="1618488"/>
            <a:ext cx="274320" cy="274320"/>
          </a:xfrm>
          <a:prstGeom prst="rect">
            <a:avLst/>
          </a:prstGeom>
        </p:spPr>
      </p:pic>
      <p:sp>
        <p:nvSpPr>
          <p:cNvPr id="11" name="Card heading 2"/>
          <p:cNvSpPr txBox="1"/>
          <p:nvPr/>
        </p:nvSpPr>
        <p:spPr>
          <a:xfrm>
            <a:off x="347472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No item-level proof</a:t>
            </a:r>
            <a:endParaRPr lang="en-US" sz="1700" dirty="0"/>
          </a:p>
        </p:txBody>
      </p:sp>
      <p:sp>
        <p:nvSpPr>
          <p:cNvPr id="12" name="Card body 2"/>
          <p:cNvSpPr txBox="1"/>
          <p:nvPr/>
        </p:nvSpPr>
        <p:spPr>
          <a:xfrm>
            <a:off x="347472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 11898 makes producers responsible for packaging, but brand audits are periodic, manual and mostly land-based.</a:t>
            </a:r>
            <a:endParaRPr lang="en-US" sz="1300" dirty="0"/>
          </a:p>
        </p:txBody>
      </p:sp>
      <p:sp>
        <p:nvSpPr>
          <p:cNvPr id="13" name="Card 3"/>
          <p:cNvSpPr/>
          <p:nvPr/>
        </p:nvSpPr>
        <p:spPr>
          <a:xfrm>
            <a:off x="603504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4" name="Icon circle 3"/>
          <p:cNvSpPr/>
          <p:nvPr/>
        </p:nvSpPr>
        <p:spPr>
          <a:xfrm>
            <a:off x="6263640" y="1481328"/>
            <a:ext cx="548640" cy="548640"/>
          </a:xfrm>
          <a:prstGeom prst="ellipse">
            <a:avLst/>
          </a:prstGeom>
          <a:solidFill>
            <a:schemeClr val="accent1"/>
          </a:solidFill>
          <a:ln w="12700">
            <a:solidFill>
              <a:schemeClr val="accent1"/>
            </a:solidFill>
            <a:prstDash val="solid"/>
          </a:ln>
        </p:spPr>
      </p:sp>
      <p:pic>
        <p:nvPicPr>
          <p:cNvPr id="15" name="Icon 3" descr="Blocked creeks flood">    </p:cNvPr>
          <p:cNvPicPr>
            <a:picLocks noChangeAspect="1"/>
          </p:cNvPicPr>
          <p:nvPr/>
        </p:nvPicPr>
        <p:blipFill>
          <a:blip r:embed="rId3"/>
          <a:stretch>
            <a:fillRect/>
          </a:stretch>
        </p:blipFill>
        <p:spPr>
          <a:xfrm>
            <a:off x="6400800" y="1618488"/>
            <a:ext cx="274320" cy="274320"/>
          </a:xfrm>
          <a:prstGeom prst="rect">
            <a:avLst/>
          </a:prstGeom>
        </p:spPr>
      </p:pic>
      <p:sp>
        <p:nvSpPr>
          <p:cNvPr id="16" name="Card heading 3"/>
          <p:cNvSpPr txBox="1"/>
          <p:nvPr/>
        </p:nvSpPr>
        <p:spPr>
          <a:xfrm>
            <a:off x="626364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Blocked creeks flood</a:t>
            </a:r>
            <a:endParaRPr lang="en-US" sz="1700" dirty="0"/>
          </a:p>
        </p:txBody>
      </p:sp>
      <p:sp>
        <p:nvSpPr>
          <p:cNvPr id="17" name="Card body 3"/>
          <p:cNvSpPr txBox="1"/>
          <p:nvPr/>
        </p:nvSpPr>
        <p:spPr>
          <a:xfrm>
            <a:off x="626364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Debris chokes channels, and barangays learn of a blockage only after the water has risen.</a:t>
            </a:r>
            <a:endParaRPr lang="en-US" sz="1300" dirty="0"/>
          </a:p>
        </p:txBody>
      </p:sp>
      <p:sp>
        <p:nvSpPr>
          <p:cNvPr id="18" name="Gap band"/>
          <p:cNvSpPr/>
          <p:nvPr/>
        </p:nvSpPr>
        <p:spPr>
          <a:xfrm>
            <a:off x="457200" y="3840480"/>
            <a:ext cx="8229600" cy="731520"/>
          </a:xfrm>
          <a:prstGeom prst="roundRect">
            <a:avLst>
              <a:gd name="adj" fmla="val 10000"/>
            </a:avLst>
          </a:prstGeom>
          <a:solidFill>
            <a:schemeClr val="accent4"/>
          </a:solidFill>
          <a:ln w="12700">
            <a:solidFill>
              <a:schemeClr val="accent4"/>
            </a:solidFill>
            <a:prstDash val="solid"/>
          </a:ln>
        </p:spPr>
      </p:sp>
      <p:sp>
        <p:nvSpPr>
          <p:cNvPr id="19" name="Gap statement"/>
          <p:cNvSpPr txBox="1"/>
          <p:nvPr/>
        </p:nvSpPr>
        <p:spPr>
          <a:xfrm>
            <a:off x="685800" y="3886200"/>
            <a:ext cx="7772400" cy="6400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The gap: </a:t>
            </a:r>
            <a:pPr indent="0" marL="0">
              <a:buNone/>
            </a:pPr>
            <a:r>
              <a:rPr lang="en-US" sz="1600" dirty="0">
                <a:solidFill>
                  <a:schemeClr val="tx2"/>
                </a:solidFill>
                <a:latin typeface="Calibri" pitchFamily="34" charset="0"/>
                <a:ea typeface="Calibri" pitchFamily="34" charset="-122"/>
                <a:cs typeface="Calibri" pitchFamily="34" charset="-120"/>
              </a:rPr>
              <a:t>a continuous, low-cost record taken at the waterway itself, run by a single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SALOK lifts plastic out and counts every item</a:t>
            </a:r>
            <a:endParaRPr lang="en-US" sz="3200" dirty="0"/>
          </a:p>
        </p:txBody>
      </p:sp>
      <p:pic>
        <p:nvPicPr>
          <p:cNvPr id="3" name="Device drawing" descr="Side view of the SALOK device: a post carrying a camera, level sensor, solar panel and electronics box, with a ramp, rake arm, motor and bin">    </p:cNvPr>
          <p:cNvPicPr>
            <a:picLocks noChangeAspect="1"/>
          </p:cNvPicPr>
          <p:nvPr/>
        </p:nvPicPr>
        <p:blipFill>
          <a:blip r:embed="rId1"/>
          <a:stretch>
            <a:fillRect/>
          </a:stretch>
        </p:blipFill>
        <p:spPr>
          <a:xfrm>
            <a:off x="457200" y="1280160"/>
            <a:ext cx="4846320" cy="2743200"/>
          </a:xfrm>
          <a:prstGeom prst="rect">
            <a:avLst/>
          </a:prstGeom>
        </p:spPr>
      </p:pic>
      <p:sp>
        <p:nvSpPr>
          <p:cNvPr id="4" name="Drawing caption"/>
          <p:cNvSpPr txBox="1"/>
          <p:nvPr/>
        </p:nvSpPr>
        <p:spPr>
          <a:xfrm>
            <a:off x="457200" y="4114800"/>
            <a:ext cx="484632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Schematic, not to scale</a:t>
            </a:r>
            <a:endParaRPr lang="en-US" sz="1000" dirty="0"/>
          </a:p>
        </p:txBody>
      </p:sp>
      <p:sp>
        <p:nvSpPr>
          <p:cNvPr id="5" name="Step circle 1"/>
          <p:cNvSpPr/>
          <p:nvPr/>
        </p:nvSpPr>
        <p:spPr>
          <a:xfrm>
            <a:off x="5532120" y="1325880"/>
            <a:ext cx="384048" cy="384048"/>
          </a:xfrm>
          <a:prstGeom prst="ellipse">
            <a:avLst/>
          </a:prstGeom>
          <a:solidFill>
            <a:schemeClr val="accent2"/>
          </a:solidFill>
          <a:ln w="12700">
            <a:solidFill>
              <a:schemeClr val="accent2"/>
            </a:solidFill>
            <a:prstDash val="solid"/>
          </a:ln>
        </p:spPr>
      </p:sp>
      <p:sp>
        <p:nvSpPr>
          <p:cNvPr id="6" name="Step number 1"/>
          <p:cNvSpPr txBox="1"/>
          <p:nvPr/>
        </p:nvSpPr>
        <p:spPr>
          <a:xfrm>
            <a:off x="55321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Step text 1"/>
          <p:cNvSpPr txBox="1"/>
          <p:nvPr/>
        </p:nvSpPr>
        <p:spPr>
          <a:xfrm>
            <a:off x="6053328" y="1280160"/>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Trap</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bottle boom guides plastic to a bar screen.</a:t>
            </a:r>
            <a:endParaRPr lang="en-US" sz="1600" dirty="0"/>
          </a:p>
        </p:txBody>
      </p:sp>
      <p:sp>
        <p:nvSpPr>
          <p:cNvPr id="8" name="Step circle 2"/>
          <p:cNvSpPr/>
          <p:nvPr/>
        </p:nvSpPr>
        <p:spPr>
          <a:xfrm>
            <a:off x="5532120" y="2130552"/>
            <a:ext cx="384048" cy="384048"/>
          </a:xfrm>
          <a:prstGeom prst="ellipse">
            <a:avLst/>
          </a:prstGeom>
          <a:solidFill>
            <a:schemeClr val="accent2"/>
          </a:solidFill>
          <a:ln w="12700">
            <a:solidFill>
              <a:schemeClr val="accent2"/>
            </a:solidFill>
            <a:prstDash val="solid"/>
          </a:ln>
        </p:spPr>
      </p:sp>
      <p:sp>
        <p:nvSpPr>
          <p:cNvPr id="9" name="Step number 2"/>
          <p:cNvSpPr txBox="1"/>
          <p:nvPr/>
        </p:nvSpPr>
        <p:spPr>
          <a:xfrm>
            <a:off x="5532120" y="2130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Step text 2"/>
          <p:cNvSpPr txBox="1"/>
          <p:nvPr/>
        </p:nvSpPr>
        <p:spPr>
          <a:xfrm>
            <a:off x="6053328" y="2084832"/>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Lift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camera-triggered arm sweeps debris up a ramp into a bin.</a:t>
            </a:r>
            <a:endParaRPr lang="en-US" sz="1600" dirty="0"/>
          </a:p>
        </p:txBody>
      </p:sp>
      <p:sp>
        <p:nvSpPr>
          <p:cNvPr id="11" name="Step circle 3"/>
          <p:cNvSpPr/>
          <p:nvPr/>
        </p:nvSpPr>
        <p:spPr>
          <a:xfrm>
            <a:off x="5532120" y="2935224"/>
            <a:ext cx="384048" cy="384048"/>
          </a:xfrm>
          <a:prstGeom prst="ellipse">
            <a:avLst/>
          </a:prstGeom>
          <a:solidFill>
            <a:schemeClr val="accent2"/>
          </a:solidFill>
          <a:ln w="12700">
            <a:solidFill>
              <a:schemeClr val="accent2"/>
            </a:solidFill>
            <a:prstDash val="solid"/>
          </a:ln>
        </p:spPr>
      </p:sp>
      <p:sp>
        <p:nvSpPr>
          <p:cNvPr id="12" name="Step number 3"/>
          <p:cNvSpPr txBox="1"/>
          <p:nvPr/>
        </p:nvSpPr>
        <p:spPr>
          <a:xfrm>
            <a:off x="5532120" y="2935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Step text 3"/>
          <p:cNvSpPr txBox="1"/>
          <p:nvPr/>
        </p:nvSpPr>
        <p:spPr>
          <a:xfrm>
            <a:off x="6053328" y="2889504"/>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Count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An on-chip model classifies each item by type and, where legible, brand.</a:t>
            </a:r>
            <a:endParaRPr lang="en-US" sz="1600" dirty="0"/>
          </a:p>
        </p:txBody>
      </p:sp>
      <p:sp>
        <p:nvSpPr>
          <p:cNvPr id="14" name="Step circle 4"/>
          <p:cNvSpPr/>
          <p:nvPr/>
        </p:nvSpPr>
        <p:spPr>
          <a:xfrm>
            <a:off x="5532120" y="3739896"/>
            <a:ext cx="384048" cy="384048"/>
          </a:xfrm>
          <a:prstGeom prst="ellipse">
            <a:avLst/>
          </a:prstGeom>
          <a:solidFill>
            <a:schemeClr val="accent2"/>
          </a:solidFill>
          <a:ln w="12700">
            <a:solidFill>
              <a:schemeClr val="accent2"/>
            </a:solidFill>
            <a:prstDash val="solid"/>
          </a:ln>
        </p:spPr>
      </p:sp>
      <p:sp>
        <p:nvSpPr>
          <p:cNvPr id="15" name="Step number 4"/>
          <p:cNvSpPr txBox="1"/>
          <p:nvPr/>
        </p:nvSpPr>
        <p:spPr>
          <a:xfrm>
            <a:off x="5532120" y="3739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6" name="Step text 4"/>
          <p:cNvSpPr txBox="1"/>
          <p:nvPr/>
        </p:nvSpPr>
        <p:spPr>
          <a:xfrm>
            <a:off x="6053328" y="3694176"/>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Report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weekly offline report and an open dataset for the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The parts exist. The combination is new</a:t>
            </a:r>
            <a:endParaRPr lang="en-US" sz="3200" dirty="0"/>
          </a:p>
        </p:txBody>
      </p:sp>
      <p:sp>
        <p:nvSpPr>
          <p:cNvPr id="3" name="Left heading"/>
          <p:cNvSpPr txBox="1"/>
          <p:nvPr/>
        </p:nvSpPr>
        <p:spPr>
          <a:xfrm>
            <a:off x="457200" y="1188720"/>
            <a:ext cx="384048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How it works</a:t>
            </a:r>
            <a:endParaRPr lang="en-US" sz="1800" dirty="0"/>
          </a:p>
        </p:txBody>
      </p:sp>
      <p:sp>
        <p:nvSpPr>
          <p:cNvPr id="4" name="Technology list"/>
          <p:cNvSpPr txBox="1"/>
          <p:nvPr/>
        </p:nvSpPr>
        <p:spPr>
          <a:xfrm>
            <a:off x="457200" y="1572768"/>
            <a:ext cx="3931920" cy="301752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On-chip counting.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INT8 model on an ESP32-S3 classifies each item and triggers the arm.</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Jam protection.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Current and Hall sensing, a shear pin and at most three retries.</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Audit-grade data.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append-only log of class, time, level and image hash, checked by a weekly hand audit.</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Solar budget.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About 18 Wh a day against about 6 Wh for the electronics (planning figure).</a:t>
            </a:r>
            <a:endParaRPr lang="en-US" sz="1400" dirty="0"/>
          </a:p>
        </p:txBody>
      </p:sp>
      <p:sp>
        <p:nvSpPr>
          <p:cNvPr id="5" name="Right heading"/>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exists, and what it leaves open</a:t>
            </a:r>
            <a:endParaRPr lang="en-US" sz="1800" dirty="0"/>
          </a:p>
        </p:txBody>
      </p:sp>
      <p:graphicFrame>
        <p:nvGraphicFramePr>
          <p:cNvPr id="5" name="Prior art table"/>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914400"/>
        </p:xfrm>
        <a:graphic>
          <a:graphicData uri="http://schemas.openxmlformats.org/drawingml/2006/table">
            <a:tbl>
              <a:tblPr/>
              <a:tblGrid>
                <a:gridCol w="2103120"/>
                <a:gridCol w="1828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Existing work</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Leaves open</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Cameras and deep learning (van Lieshout et al., 2020)</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Monitors only, removes nothing</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Robotic boats (HydroSentinel,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Need radio, charging and an operator</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Estero trash traps (Manila Bulletin,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Record bulk weight only</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Brand audits (Break Free From Plastic, 2019)</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Periodic, manual, land-based</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SALOK</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Fixed, solar, lifts and counts on one chip</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Each stage waits for a passing test</a:t>
            </a:r>
            <a:endParaRPr lang="en-US" sz="3200" dirty="0"/>
          </a:p>
        </p:txBody>
      </p:sp>
      <p:sp>
        <p:nvSpPr>
          <p:cNvPr id="3" name="Stage card 1"/>
          <p:cNvSpPr/>
          <p:nvPr/>
        </p:nvSpPr>
        <p:spPr>
          <a:xfrm>
            <a:off x="45720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Stage name 1"/>
          <p:cNvSpPr txBox="1"/>
          <p:nvPr/>
        </p:nvSpPr>
        <p:spPr>
          <a:xfrm>
            <a:off x="64008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1 · Bench</a:t>
            </a:r>
            <a:endParaRPr lang="en-US" sz="1500" dirty="0"/>
          </a:p>
        </p:txBody>
      </p:sp>
      <p:sp>
        <p:nvSpPr>
          <p:cNvPr id="5" name="Stage cost 1"/>
          <p:cNvSpPr txBox="1"/>
          <p:nvPr/>
        </p:nvSpPr>
        <p:spPr>
          <a:xfrm>
            <a:off x="64008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1,800</a:t>
            </a:r>
            <a:endParaRPr lang="en-US" sz="2400" dirty="0"/>
          </a:p>
        </p:txBody>
      </p:sp>
      <p:sp>
        <p:nvSpPr>
          <p:cNvPr id="6" name="Stage gate 1"/>
          <p:cNvSpPr txBox="1"/>
          <p:nvPr/>
        </p:nvSpPr>
        <p:spPr>
          <a:xfrm>
            <a:off x="64008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precision and recall on held-out photos meet the target.</a:t>
            </a:r>
            <a:endParaRPr lang="en-US" sz="1200" dirty="0"/>
          </a:p>
        </p:txBody>
      </p:sp>
      <p:sp>
        <p:nvSpPr>
          <p:cNvPr id="7" name="Stage card 2"/>
          <p:cNvSpPr/>
          <p:nvPr/>
        </p:nvSpPr>
        <p:spPr>
          <a:xfrm>
            <a:off x="324612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8" name="Stage name 2"/>
          <p:cNvSpPr txBox="1"/>
          <p:nvPr/>
        </p:nvSpPr>
        <p:spPr>
          <a:xfrm>
            <a:off x="342900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2 · Passive trap</a:t>
            </a:r>
            <a:endParaRPr lang="en-US" sz="1500" dirty="0"/>
          </a:p>
        </p:txBody>
      </p:sp>
      <p:sp>
        <p:nvSpPr>
          <p:cNvPr id="9" name="Stage cost 2"/>
          <p:cNvSpPr txBox="1"/>
          <p:nvPr/>
        </p:nvSpPr>
        <p:spPr>
          <a:xfrm>
            <a:off x="342900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2,500</a:t>
            </a:r>
            <a:endParaRPr lang="en-US" sz="2400" dirty="0"/>
          </a:p>
        </p:txBody>
      </p:sp>
      <p:sp>
        <p:nvSpPr>
          <p:cNvPr id="10" name="Stage gate 2"/>
          <p:cNvSpPr txBox="1"/>
          <p:nvPr/>
        </p:nvSpPr>
        <p:spPr>
          <a:xfrm>
            <a:off x="342900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boom survives rain events, counts within 15% of hand counts.</a:t>
            </a:r>
            <a:endParaRPr lang="en-US" sz="1200" dirty="0"/>
          </a:p>
        </p:txBody>
      </p:sp>
      <p:sp>
        <p:nvSpPr>
          <p:cNvPr id="11" name="Stage card 3"/>
          <p:cNvSpPr/>
          <p:nvPr/>
        </p:nvSpPr>
        <p:spPr>
          <a:xfrm>
            <a:off x="603504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2" name="Stage name 3"/>
          <p:cNvSpPr txBox="1"/>
          <p:nvPr/>
        </p:nvSpPr>
        <p:spPr>
          <a:xfrm>
            <a:off x="621792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3 · Arm and sensor</a:t>
            </a:r>
            <a:endParaRPr lang="en-US" sz="1500" dirty="0"/>
          </a:p>
        </p:txBody>
      </p:sp>
      <p:sp>
        <p:nvSpPr>
          <p:cNvPr id="13" name="Stage cost 3"/>
          <p:cNvSpPr txBox="1"/>
          <p:nvPr/>
        </p:nvSpPr>
        <p:spPr>
          <a:xfrm>
            <a:off x="621792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1,350</a:t>
            </a:r>
            <a:endParaRPr lang="en-US" sz="2400" dirty="0"/>
          </a:p>
        </p:txBody>
      </p:sp>
      <p:sp>
        <p:nvSpPr>
          <p:cNvPr id="14" name="Stage gate 3"/>
          <p:cNvSpPr txBox="1"/>
          <p:nvPr/>
        </p:nvSpPr>
        <p:spPr>
          <a:xfrm>
            <a:off x="621792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wet bench test, then solar-only lifts at the target jam rate.</a:t>
            </a:r>
            <a:endParaRPr lang="en-US" sz="1200" dirty="0"/>
          </a:p>
        </p:txBody>
      </p:sp>
      <p:graphicFrame>
        <p:nvGraphicFramePr>
          <p:cNvPr id="15" name="Budget chart" descr=""/>
          <p:cNvGraphicFramePr/>
          <p:nvPr/>
        </p:nvGraphicFramePr>
        <p:xfrm>
          <a:off x="457200" y="3017520"/>
          <a:ext cx="4572000" cy="1691640"/>
        </p:xfrm>
        <a:graphic xmlns:a="http://schemas.openxmlformats.org/drawingml/2006/main">
          <a:graphicData uri="http://schemas.openxmlformats.org/drawingml/2006/chart">
            <c:chart xmlns:c="http://schemas.openxmlformats.org/drawingml/2006/chart" r:id="rId1"/>
          </a:graphicData>
        </a:graphic>
      </p:graphicFrame>
      <p:sp>
        <p:nvSpPr>
          <p:cNvPr id="16" name="Total"/>
          <p:cNvSpPr txBox="1"/>
          <p:nvPr/>
        </p:nvSpPr>
        <p:spPr>
          <a:xfrm>
            <a:off x="5394960" y="3108960"/>
            <a:ext cx="3291840" cy="6400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PHP 6,000</a:t>
            </a:r>
            <a:endParaRPr lang="en-US" sz="4000" dirty="0"/>
          </a:p>
        </p:txBody>
      </p:sp>
      <p:sp>
        <p:nvSpPr>
          <p:cNvPr id="17" name="Total note"/>
          <p:cNvSpPr txBox="1"/>
          <p:nvPr/>
        </p:nvSpPr>
        <p:spPr>
          <a:xfrm>
            <a:off x="5394960" y="3749040"/>
            <a:ext cx="329184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total, including PHP 350 contingency. If the arm fails, the boom, bin and camera still deliver the data.</a:t>
            </a:r>
            <a:endParaRPr lang="en-US" sz="1300" dirty="0"/>
          </a:p>
        </p:txBody>
      </p:sp>
      <p:sp>
        <p:nvSpPr>
          <p:cNvPr id="18" name="Dates"/>
          <p:cNvSpPr txBox="1"/>
          <p:nvPr/>
        </p:nvSpPr>
        <p:spPr>
          <a:xfrm>
            <a:off x="5394960" y="4343400"/>
            <a:ext cx="329184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Nov 2 submit · Dec 7 present · Mar 2027 replicate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One creek proves the method</a:t>
            </a:r>
            <a:endParaRPr lang="en-US" sz="3200" dirty="0"/>
          </a:p>
        </p:txBody>
      </p:sp>
      <p:sp>
        <p:nvSpPr>
          <p:cNvPr id="3" name="Research question"/>
          <p:cNvSpPr txBox="1"/>
          <p:nvPr/>
        </p:nvSpPr>
        <p:spPr>
          <a:xfrm>
            <a:off x="457200" y="1280160"/>
            <a:ext cx="8229600" cy="7772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Research question  </a:t>
            </a:r>
            <a:pPr indent="0" marL="0">
              <a:buNone/>
            </a:pPr>
            <a:r>
              <a:rPr lang="en-US" sz="1500" dirty="0">
                <a:solidFill>
                  <a:schemeClr val="bg1"/>
                </a:solidFill>
                <a:latin typeface="Calibri" pitchFamily="34" charset="0"/>
                <a:ea typeface="Calibri" pitchFamily="34" charset="-122"/>
                <a:cs typeface="Calibri" pitchFamily="34" charset="-120"/>
              </a:rPr>
              <a:t>Can a PHP 6,000 on-chip counter match a trained hand audit within 15 percent, and does continuous counting reveal rain-driven pulses that weekly audits miss?</a:t>
            </a:r>
            <a:endParaRPr lang="en-US" sz="1500" dirty="0"/>
          </a:p>
        </p:txBody>
      </p:sp>
      <p:sp>
        <p:nvSpPr>
          <p:cNvPr id="4" name="Stat tile 1"/>
          <p:cNvSpPr/>
          <p:nvPr/>
        </p:nvSpPr>
        <p:spPr>
          <a:xfrm>
            <a:off x="457200" y="2286000"/>
            <a:ext cx="2606040" cy="1234440"/>
          </a:xfrm>
          <a:prstGeom prst="roundRect">
            <a:avLst>
              <a:gd name="adj" fmla="val 5926"/>
            </a:avLst>
          </a:prstGeom>
          <a:solidFill>
            <a:srgbClr val="10272B"/>
          </a:solidFill>
          <a:ln w="12700">
            <a:solidFill>
              <a:schemeClr val="accent1"/>
            </a:solidFill>
            <a:prstDash val="solid"/>
          </a:ln>
        </p:spPr>
      </p:sp>
      <p:sp>
        <p:nvSpPr>
          <p:cNvPr id="5" name="Stat 1"/>
          <p:cNvSpPr txBox="1"/>
          <p:nvPr/>
        </p:nvSpPr>
        <p:spPr>
          <a:xfrm>
            <a:off x="64008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±15%</a:t>
            </a:r>
            <a:endParaRPr lang="en-US" sz="3200" dirty="0"/>
          </a:p>
        </p:txBody>
      </p:sp>
      <p:sp>
        <p:nvSpPr>
          <p:cNvPr id="6" name="Stat label 1"/>
          <p:cNvSpPr txBox="1"/>
          <p:nvPr/>
        </p:nvSpPr>
        <p:spPr>
          <a:xfrm>
            <a:off x="64008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device count against a hand audit</a:t>
            </a:r>
            <a:endParaRPr lang="en-US" sz="1300" dirty="0"/>
          </a:p>
        </p:txBody>
      </p:sp>
      <p:sp>
        <p:nvSpPr>
          <p:cNvPr id="7" name="Stat tile 2"/>
          <p:cNvSpPr/>
          <p:nvPr/>
        </p:nvSpPr>
        <p:spPr>
          <a:xfrm>
            <a:off x="3246120" y="2286000"/>
            <a:ext cx="2606040" cy="1234440"/>
          </a:xfrm>
          <a:prstGeom prst="roundRect">
            <a:avLst>
              <a:gd name="adj" fmla="val 5926"/>
            </a:avLst>
          </a:prstGeom>
          <a:solidFill>
            <a:srgbClr val="10272B"/>
          </a:solidFill>
          <a:ln w="12700">
            <a:solidFill>
              <a:schemeClr val="accent1"/>
            </a:solidFill>
            <a:prstDash val="solid"/>
          </a:ln>
        </p:spPr>
      </p:sp>
      <p:sp>
        <p:nvSpPr>
          <p:cNvPr id="8" name="Stat 2"/>
          <p:cNvSpPr txBox="1"/>
          <p:nvPr/>
        </p:nvSpPr>
        <p:spPr>
          <a:xfrm>
            <a:off x="342900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PHP 6,000</a:t>
            </a:r>
            <a:endParaRPr lang="en-US" sz="3200" dirty="0"/>
          </a:p>
        </p:txBody>
      </p:sp>
      <p:sp>
        <p:nvSpPr>
          <p:cNvPr id="9" name="Stat label 2"/>
          <p:cNvSpPr txBox="1"/>
          <p:nvPr/>
        </p:nvSpPr>
        <p:spPr>
          <a:xfrm>
            <a:off x="342900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per unit, copyable by any barangay</a:t>
            </a:r>
            <a:endParaRPr lang="en-US" sz="1300" dirty="0"/>
          </a:p>
        </p:txBody>
      </p:sp>
      <p:sp>
        <p:nvSpPr>
          <p:cNvPr id="10" name="Stat tile 3"/>
          <p:cNvSpPr/>
          <p:nvPr/>
        </p:nvSpPr>
        <p:spPr>
          <a:xfrm>
            <a:off x="6035040" y="2286000"/>
            <a:ext cx="2606040" cy="1234440"/>
          </a:xfrm>
          <a:prstGeom prst="roundRect">
            <a:avLst>
              <a:gd name="adj" fmla="val 5926"/>
            </a:avLst>
          </a:prstGeom>
          <a:solidFill>
            <a:srgbClr val="10272B"/>
          </a:solidFill>
          <a:ln w="12700">
            <a:solidFill>
              <a:schemeClr val="accent1"/>
            </a:solidFill>
            <a:prstDash val="solid"/>
          </a:ln>
        </p:spPr>
      </p:sp>
      <p:sp>
        <p:nvSpPr>
          <p:cNvPr id="11" name="Stat 3"/>
          <p:cNvSpPr txBox="1"/>
          <p:nvPr/>
        </p:nvSpPr>
        <p:spPr>
          <a:xfrm>
            <a:off x="621792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 to 2</a:t>
            </a:r>
            <a:endParaRPr lang="en-US" sz="3200" dirty="0"/>
          </a:p>
        </p:txBody>
      </p:sp>
      <p:sp>
        <p:nvSpPr>
          <p:cNvPr id="12" name="Stat label 3"/>
          <p:cNvSpPr txBox="1"/>
          <p:nvPr/>
        </p:nvSpPr>
        <p:spPr>
          <a:xfrm>
            <a:off x="621792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more sites by March 2027</a:t>
            </a:r>
            <a:endParaRPr lang="en-US" sz="1300" dirty="0"/>
          </a:p>
        </p:txBody>
      </p:sp>
      <p:sp>
        <p:nvSpPr>
          <p:cNvPr id="13" name="Takeaway"/>
          <p:cNvSpPr txBox="1"/>
          <p:nvPr/>
        </p:nvSpPr>
        <p:spPr>
          <a:xfrm>
            <a:off x="457200" y="3794760"/>
            <a:ext cx="8229600" cy="777240"/>
          </a:xfrm>
          <a:prstGeom prst="rect">
            <a:avLst/>
          </a:prstGeom>
          <a:noFill/>
          <a:ln/>
        </p:spPr>
        <p:txBody>
          <a:bodyPr wrap="square" lIns="0" tIns="0" rIns="0" bIns="0" rtlCol="0" anchor="t"/>
          <a:lstStyle/>
          <a:p>
            <a:pPr indent="0" marL="0">
              <a:buNone/>
            </a:pPr>
            <a:r>
              <a:rPr lang="en-US" sz="1700" i="1" dirty="0">
                <a:solidFill>
                  <a:schemeClr val="bg1"/>
                </a:solidFill>
                <a:latin typeface="Calibri" pitchFamily="34" charset="0"/>
                <a:ea typeface="Calibri" pitchFamily="34" charset="-122"/>
                <a:cs typeface="Calibri" pitchFamily="34" charset="-120"/>
              </a:rPr>
              <a:t>The Philippines already knows who makes much of its plastic. SALOK makes the proof continuous, cheap and community-owned, and lifts some of the plastic out along the way.</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ALOK Estero">
  <a:themeElements>
    <a:clrScheme name="SALOK Estero">
      <a:dk1>
        <a:srgbClr val="10272B"/>
      </a:dk1>
      <a:lt1>
        <a:srgbClr val="FFFFFF"/>
      </a:lt1>
      <a:dk2>
        <a:srgbClr val="0E3B40"/>
      </a:dk2>
      <a:lt2>
        <a:srgbClr val="EEF4F4"/>
      </a:lt2>
      <a:accent1>
        <a:srgbClr val="0B7A75"/>
      </a:accent1>
      <a:accent2>
        <a:srgbClr val="E0701F"/>
      </a:accent2>
      <a:accent3>
        <a:srgbClr val="5F9A49"/>
      </a:accent3>
      <a:accent4>
        <a:srgbClr val="CFE6EC"/>
      </a:accent4>
      <a:accent5>
        <a:srgbClr val="5E716E"/>
      </a:accent5>
      <a:accent6>
        <a:srgbClr val="B8433A"/>
      </a:accent6>
      <a:hlink>
        <a:srgbClr val="0B7A75"/>
      </a:hlink>
      <a:folHlink>
        <a:srgbClr val="5E716E"/>
      </a:folHlink>
    </a:clrScheme>
    <a:fontScheme name="SALOK Este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SALOK: Samsung Solve for Tomorrow 2026 entry</dc:title>
  <dc:subject>PptxGenJS Presentation</dc:subject>
  <dc:creator>Quezon City Science High School</dc:creator>
  <cp:lastModifiedBy>Quezon City Science High School</cp:lastModifiedBy>
  <cp:revision>1</cp:revision>
  <dcterms:created xsi:type="dcterms:W3CDTF">2026-10-28T11:13:16Z</dcterms:created>
  <dcterms:modified xsi:type="dcterms:W3CDTF">2026-10-28T11:13:16Z</dcterms:modified>
</cp:coreProperties>
</file>