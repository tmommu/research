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Manrope"/>
      <p:regular r:id="rId13"/>
      <p:bold r:id="rId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15" roundtripDataSignature="AMtx7miqmudvUpm8cB+CHGjTPrvBfpG5c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3" Type="http://schemas.openxmlformats.org/officeDocument/2006/relationships/font" Target="fonts/Manrope-regular.fntdata"/><Relationship Id="rId14" Type="http://schemas.openxmlformats.org/officeDocument/2006/relationships/font" Target="fonts/Manrope-bold.fntdata"/><Relationship Id="rId15"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 name="Google Shape;6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 name="Google Shape;7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 name="Google Shape;7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 name="Shape 9"/>
        <p:cNvGrpSpPr/>
        <p:nvPr/>
      </p:nvGrpSpPr>
      <p:grpSpPr>
        <a:xfrm>
          <a:off x="0" y="0"/>
          <a:ext cx="0" cy="0"/>
          <a:chOff x="0" y="0"/>
          <a:chExt cx="0" cy="0"/>
        </a:xfrm>
      </p:grpSpPr>
      <p:sp>
        <p:nvSpPr>
          <p:cNvPr id="10" name="Google Shape;10;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 name="Google Shape;11;p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 name="Google Shape;12;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10"/>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5" name="Google Shape;15;p10"/>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11"/>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12"/>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12"/>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14"/>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14"/>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15"/>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1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6"/>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16"/>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16"/>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7"/>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
          <p:cNvSpPr txBox="1"/>
          <p:nvPr>
            <p:ph idx="1" type="body"/>
          </p:nvPr>
        </p:nvSpPr>
        <p:spPr>
          <a:xfrm>
            <a:off x="901950" y="2379813"/>
            <a:ext cx="7340100" cy="1516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 sz="1100">
                <a:solidFill>
                  <a:srgbClr val="000000"/>
                </a:solidFill>
              </a:rPr>
              <a:t>Team Members:</a:t>
            </a:r>
            <a:endParaRPr b="1" sz="1100">
              <a:solidFill>
                <a:srgbClr val="000000"/>
              </a:solidFill>
            </a:endParaRPr>
          </a:p>
          <a:p>
            <a:pPr indent="-298450" lvl="0" marL="457200" rtl="0" algn="l">
              <a:lnSpc>
                <a:spcPct val="115000"/>
              </a:lnSpc>
              <a:spcBef>
                <a:spcPts val="0"/>
              </a:spcBef>
              <a:spcAft>
                <a:spcPts val="0"/>
              </a:spcAft>
              <a:buClr>
                <a:srgbClr val="000000"/>
              </a:buClr>
              <a:buSzPts val="1100"/>
              <a:buChar char="●"/>
            </a:pPr>
            <a:r>
              <a:rPr lang="en" sz="1100">
                <a:solidFill>
                  <a:srgbClr val="000000"/>
                </a:solidFill>
              </a:rPr>
              <a:t>Aaron Jed E. Campo, Grade 10</a:t>
            </a:r>
            <a:endParaRPr sz="1100">
              <a:solidFill>
                <a:schemeClr val="accent3"/>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Raya Kalayaan R. Amparo, Grade 10</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Ayeza Leigh F. Delos Santos, Grade 10</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Sophia Laureen A. Tado, Grade 10</a:t>
            </a:r>
            <a:endParaRPr sz="1100">
              <a:solidFill>
                <a:schemeClr val="dk1"/>
              </a:solidFill>
            </a:endParaRPr>
          </a:p>
          <a:p>
            <a:pPr indent="0" lvl="0" marL="0" rtl="0" algn="l">
              <a:lnSpc>
                <a:spcPct val="115000"/>
              </a:lnSpc>
              <a:spcBef>
                <a:spcPts val="0"/>
              </a:spcBef>
              <a:spcAft>
                <a:spcPts val="0"/>
              </a:spcAft>
              <a:buSzPts val="1800"/>
              <a:buNone/>
            </a:pPr>
            <a:r>
              <a:t/>
            </a:r>
            <a:endParaRPr sz="1100">
              <a:solidFill>
                <a:schemeClr val="dk1"/>
              </a:solidFill>
            </a:endParaRPr>
          </a:p>
          <a:p>
            <a:pPr indent="0" lvl="0" marL="0" rtl="0" algn="l">
              <a:lnSpc>
                <a:spcPct val="115000"/>
              </a:lnSpc>
              <a:spcBef>
                <a:spcPts val="0"/>
              </a:spcBef>
              <a:spcAft>
                <a:spcPts val="0"/>
              </a:spcAft>
              <a:buSzPts val="1800"/>
              <a:buNone/>
            </a:pPr>
            <a:r>
              <a:rPr b="1" lang="en" sz="1100">
                <a:solidFill>
                  <a:schemeClr val="dk1"/>
                </a:solidFill>
              </a:rPr>
              <a:t>Adviser:</a:t>
            </a:r>
            <a:r>
              <a:rPr lang="en" sz="1100">
                <a:solidFill>
                  <a:schemeClr val="dk1"/>
                </a:solidFill>
              </a:rPr>
              <a:t> Skjoukje U. Jemoya</a:t>
            </a:r>
            <a:endParaRPr sz="1100">
              <a:solidFill>
                <a:schemeClr val="dk1"/>
              </a:solidFill>
            </a:endParaRPr>
          </a:p>
          <a:p>
            <a:pPr indent="0" lvl="0" marL="0" rtl="0" algn="l">
              <a:lnSpc>
                <a:spcPct val="115000"/>
              </a:lnSpc>
              <a:spcBef>
                <a:spcPts val="1200"/>
              </a:spcBef>
              <a:spcAft>
                <a:spcPts val="1200"/>
              </a:spcAft>
              <a:buSzPts val="1800"/>
              <a:buNone/>
            </a:pPr>
            <a:r>
              <a:t/>
            </a:r>
            <a:endParaRPr sz="1100">
              <a:solidFill>
                <a:srgbClr val="000000"/>
              </a:solidFill>
            </a:endParaRPr>
          </a:p>
        </p:txBody>
      </p:sp>
      <p:sp>
        <p:nvSpPr>
          <p:cNvPr id="55" name="Google Shape;55;p1"/>
          <p:cNvSpPr txBox="1"/>
          <p:nvPr>
            <p:ph type="title"/>
          </p:nvPr>
        </p:nvSpPr>
        <p:spPr>
          <a:xfrm>
            <a:off x="1436700" y="427397"/>
            <a:ext cx="627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n" sz="2600"/>
              <a:t>SAGIP: Autonomous Solar Skimmer Boat with On-Chip AI</a:t>
            </a:r>
            <a:endParaRPr b="1" sz="2600"/>
          </a:p>
          <a:p>
            <a:pPr indent="0" lvl="0" marL="0" rtl="0" algn="ctr">
              <a:lnSpc>
                <a:spcPct val="100000"/>
              </a:lnSpc>
              <a:spcBef>
                <a:spcPts val="0"/>
              </a:spcBef>
              <a:spcAft>
                <a:spcPts val="0"/>
              </a:spcAft>
              <a:buSzPts val="2800"/>
              <a:buNone/>
            </a:pPr>
            <a:r>
              <a:rPr lang="en" sz="1100"/>
              <a:t>Quezon City Science High School</a:t>
            </a:r>
            <a:endParaRPr sz="1100"/>
          </a:p>
        </p:txBody>
      </p:sp>
      <p:sp>
        <p:nvSpPr>
          <p:cNvPr id="56" name="Google Shape;56;p1"/>
          <p:cNvSpPr txBox="1"/>
          <p:nvPr>
            <p:ph idx="1" type="body"/>
          </p:nvPr>
        </p:nvSpPr>
        <p:spPr>
          <a:xfrm>
            <a:off x="1895550" y="1359867"/>
            <a:ext cx="5488800" cy="920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rPr b="1" lang="en" sz="1100">
                <a:solidFill>
                  <a:srgbClr val="000000"/>
                </a:solidFill>
              </a:rPr>
              <a:t>Chosen Theme: </a:t>
            </a:r>
            <a:endParaRPr sz="1100">
              <a:solidFill>
                <a:schemeClr val="accent3"/>
              </a:solidFill>
            </a:endParaRPr>
          </a:p>
          <a:p>
            <a:pPr indent="0" lvl="0" marL="0" rtl="0" algn="l">
              <a:lnSpc>
                <a:spcPct val="100000"/>
              </a:lnSpc>
              <a:spcBef>
                <a:spcPts val="0"/>
              </a:spcBef>
              <a:spcAft>
                <a:spcPts val="0"/>
              </a:spcAft>
              <a:buSzPts val="1800"/>
              <a:buNone/>
            </a:pPr>
            <a:r>
              <a:rPr lang="en" sz="1100">
                <a:solidFill>
                  <a:srgbClr val="000000"/>
                </a:solidFill>
              </a:rPr>
              <a:t>- Environmental Sustainability through Technology</a:t>
            </a:r>
            <a:endParaRPr sz="1100">
              <a:solidFill>
                <a:srgbClr val="000000"/>
              </a:solidFill>
            </a:endParaRPr>
          </a:p>
          <a:p>
            <a:pPr indent="0" lvl="0" marL="0" rtl="0" algn="l">
              <a:lnSpc>
                <a:spcPct val="100000"/>
              </a:lnSpc>
              <a:spcBef>
                <a:spcPts val="0"/>
              </a:spcBef>
              <a:spcAft>
                <a:spcPts val="0"/>
              </a:spcAft>
              <a:buSzPts val="1800"/>
              <a:buNone/>
            </a:pPr>
            <a:r>
              <a:t/>
            </a:r>
            <a:endParaRPr sz="1100">
              <a:solidFill>
                <a:srgbClr val="000000"/>
              </a:solidFill>
            </a:endParaRPr>
          </a:p>
        </p:txBody>
      </p:sp>
      <p:sp>
        <p:nvSpPr>
          <p:cNvPr id="57" name="Google Shape;57;p1"/>
          <p:cNvSpPr txBox="1"/>
          <p:nvPr>
            <p:ph idx="1" type="body"/>
          </p:nvPr>
        </p:nvSpPr>
        <p:spPr>
          <a:xfrm>
            <a:off x="763800" y="3996175"/>
            <a:ext cx="7616400" cy="769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200"/>
              </a:spcBef>
              <a:spcAft>
                <a:spcPts val="1200"/>
              </a:spcAft>
              <a:buSzPts val="1800"/>
              <a:buNone/>
            </a:pPr>
            <a:r>
              <a:rPr lang="en" sz="1100">
                <a:solidFill>
                  <a:schemeClr val="dk1"/>
                </a:solidFill>
              </a:rPr>
              <a:t>SAGIP is a low-cost, solar-powered robot boat that patrols a creek, goes to floating debris, lifts it onto a conveyor and names each item with a small on-chip image model. Barangay officials get a weekly offline report of the plastic collected by type and weight, plus a float-switch flood alarm at the bank. Built for about PHP 16,000 from local parts, it adds anonymized records to an open dataset that other barangays can copy.</a:t>
            </a:r>
            <a:endParaRPr i="1" sz="1100">
              <a:solidFill>
                <a:schemeClr val="accent3"/>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1" name="Shape 61"/>
        <p:cNvGrpSpPr/>
        <p:nvPr/>
      </p:nvGrpSpPr>
      <p:grpSpPr>
        <a:xfrm>
          <a:off x="0" y="0"/>
          <a:ext cx="0" cy="0"/>
          <a:chOff x="0" y="0"/>
          <a:chExt cx="0" cy="0"/>
        </a:xfrm>
      </p:grpSpPr>
      <p:sp>
        <p:nvSpPr>
          <p:cNvPr id="62" name="Google Shape;62;p2"/>
          <p:cNvSpPr txBox="1"/>
          <p:nvPr>
            <p:ph idx="1" type="body"/>
          </p:nvPr>
        </p:nvSpPr>
        <p:spPr>
          <a:xfrm>
            <a:off x="541200" y="781650"/>
            <a:ext cx="8061600" cy="35802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AutoNum type="arabicPeriod"/>
            </a:pPr>
            <a:r>
              <a:rPr b="1" lang="en" sz="1100">
                <a:solidFill>
                  <a:schemeClr val="dk1"/>
                </a:solidFill>
              </a:rPr>
              <a:t>What problem are we trying to solve? </a:t>
            </a:r>
            <a:endParaRPr b="1" sz="1100">
              <a:solidFill>
                <a:schemeClr val="dk1"/>
              </a:solidFill>
            </a:endParaRPr>
          </a:p>
          <a:p>
            <a:pPr indent="0" lvl="0" marL="0" rtl="0" algn="l">
              <a:lnSpc>
                <a:spcPct val="115000"/>
              </a:lnSpc>
              <a:spcBef>
                <a:spcPts val="1200"/>
              </a:spcBef>
              <a:spcAft>
                <a:spcPts val="0"/>
              </a:spcAft>
              <a:buSzPts val="1800"/>
              <a:buNone/>
            </a:pPr>
            <a:r>
              <a:rPr lang="en" sz="1100">
                <a:solidFill>
                  <a:schemeClr val="dk1"/>
                </a:solidFill>
              </a:rPr>
              <a:t>Philippine rivers rank first among countries for river plastic emissions, with the Pasig first among rivers in the model (Meijer et al., 2021). Cleanups weigh bulk waste and record nothing about it. Brand audits are periodic and mostly land-based (Break Free From Plastic, 2021), and RA 11898 needs proof of which packaging reaches waterways. The gap is a continuous, low-cost record taken at the creek itself.</a:t>
            </a:r>
            <a:endParaRPr sz="1100">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 sz="1100">
                <a:solidFill>
                  <a:schemeClr val="dk1"/>
                </a:solidFill>
              </a:rPr>
              <a:t>What do we want to achieve?</a:t>
            </a:r>
            <a:endParaRPr b="1" sz="1100">
              <a:solidFill>
                <a:schemeClr val="dk1"/>
              </a:solidFill>
            </a:endParaRPr>
          </a:p>
          <a:p>
            <a:pPr indent="0" lvl="0" marL="0" rtl="0" algn="l">
              <a:lnSpc>
                <a:spcPct val="115000"/>
              </a:lnSpc>
              <a:spcBef>
                <a:spcPts val="1200"/>
              </a:spcBef>
              <a:spcAft>
                <a:spcPts val="0"/>
              </a:spcAft>
              <a:buSzPts val="1800"/>
              <a:buNone/>
            </a:pPr>
            <a:r>
              <a:rPr b="1" lang="en" sz="1100">
                <a:solidFill>
                  <a:schemeClr val="dk1"/>
                </a:solidFill>
              </a:rPr>
              <a:t>Goal: </a:t>
            </a:r>
            <a:r>
              <a:rPr lang="en" sz="1100">
                <a:solidFill>
                  <a:schemeClr val="dk1"/>
                </a:solidFill>
              </a:rPr>
              <a:t>make creek plastic measurable evidence instead of invisible waste, with cleaner creeks and community-owned data.</a:t>
            </a:r>
            <a:endParaRPr sz="1100">
              <a:solidFill>
                <a:schemeClr val="dk1"/>
              </a:solidFill>
            </a:endParaRPr>
          </a:p>
          <a:p>
            <a:pPr indent="0" lvl="0" marL="0" rtl="0" algn="l">
              <a:lnSpc>
                <a:spcPct val="115000"/>
              </a:lnSpc>
              <a:spcBef>
                <a:spcPts val="1200"/>
              </a:spcBef>
              <a:spcAft>
                <a:spcPts val="0"/>
              </a:spcAft>
              <a:buSzPts val="1800"/>
              <a:buNone/>
            </a:pPr>
            <a:r>
              <a:rPr b="1" lang="en" sz="1100">
                <a:solidFill>
                  <a:schemeClr val="dk1"/>
                </a:solidFill>
              </a:rPr>
              <a:t>Objectives</a:t>
            </a:r>
            <a:r>
              <a:rPr lang="en" sz="1100">
                <a:solidFill>
                  <a:schemeClr val="dk1"/>
                </a:solidFill>
              </a:rPr>
              <a:t>: (1) In an 8-week pilot from January 2027, remove at least 50% of the floating debris entering a 30 m patrol stretch, lift at least 20 kg and log at least 1,000 classified items. (2) By December 5, reach 85% precision and recall on unseen photos, with weekly counts within 15% of a hand audit. (3) By March 2027, publish an open dataset and build guide and help 2 more barangays or schools build a PHP 16,000 unit.</a:t>
            </a:r>
            <a:endParaRPr sz="1100">
              <a:solidFill>
                <a:schemeClr val="dk1"/>
              </a:solidFill>
            </a:endParaRPr>
          </a:p>
          <a:p>
            <a:pPr indent="-298450" lvl="0" marL="457200" rtl="0" algn="l">
              <a:lnSpc>
                <a:spcPct val="115000"/>
              </a:lnSpc>
              <a:spcBef>
                <a:spcPts val="1200"/>
              </a:spcBef>
              <a:spcAft>
                <a:spcPts val="0"/>
              </a:spcAft>
              <a:buClr>
                <a:schemeClr val="dk1"/>
              </a:buClr>
              <a:buSzPts val="1100"/>
              <a:buAutoNum type="arabicPeriod" startAt="3"/>
            </a:pPr>
            <a:r>
              <a:rPr b="1" lang="en" sz="1100">
                <a:solidFill>
                  <a:schemeClr val="dk1"/>
                </a:solidFill>
              </a:rPr>
              <a:t>Who will benefit from this project?</a:t>
            </a:r>
            <a:endParaRPr b="1" sz="1100">
              <a:solidFill>
                <a:schemeClr val="dk1"/>
              </a:solidFill>
            </a:endParaRPr>
          </a:p>
          <a:p>
            <a:pPr indent="0" lvl="0" marL="0" rtl="0" algn="l">
              <a:lnSpc>
                <a:spcPct val="115000"/>
              </a:lnSpc>
              <a:spcBef>
                <a:spcPts val="1200"/>
              </a:spcBef>
              <a:spcAft>
                <a:spcPts val="1200"/>
              </a:spcAft>
              <a:buClr>
                <a:schemeClr val="dk1"/>
              </a:buClr>
              <a:buSzPts val="1800"/>
              <a:buFont typeface="Arial"/>
              <a:buNone/>
            </a:pPr>
            <a:r>
              <a:rPr b="1" lang="en" sz="1100">
                <a:solidFill>
                  <a:schemeClr val="dk1"/>
                </a:solidFill>
              </a:rPr>
              <a:t>Primary: </a:t>
            </a:r>
            <a:r>
              <a:rPr lang="en" sz="1100">
                <a:solidFill>
                  <a:schemeClr val="dk1"/>
                </a:solidFill>
              </a:rPr>
              <a:t>the [N] households of [barangay and purok] along Dario River in Quezon City, who gain a flood alarm and a monthly Plastic Trend Scoreboard, and the sanitation officers. </a:t>
            </a:r>
            <a:r>
              <a:rPr b="1" lang="en" sz="1100">
                <a:solidFill>
                  <a:schemeClr val="dk1"/>
                </a:solidFill>
              </a:rPr>
              <a:t>Secondary: </a:t>
            </a:r>
            <a:r>
              <a:rPr lang="en" sz="1100">
                <a:solidFill>
                  <a:schemeClr val="dk1"/>
                </a:solidFill>
              </a:rPr>
              <a:t>the city solid-waste office and DENR, 2 more barangays or schools, and downstream fisherfolk.</a:t>
            </a:r>
            <a:endParaRPr sz="11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6" name="Shape 66"/>
        <p:cNvGrpSpPr/>
        <p:nvPr/>
      </p:nvGrpSpPr>
      <p:grpSpPr>
        <a:xfrm>
          <a:off x="0" y="0"/>
          <a:ext cx="0" cy="0"/>
          <a:chOff x="0" y="0"/>
          <a:chExt cx="0" cy="0"/>
        </a:xfrm>
      </p:grpSpPr>
      <p:sp>
        <p:nvSpPr>
          <p:cNvPr id="67" name="Google Shape;67;p3"/>
          <p:cNvSpPr txBox="1"/>
          <p:nvPr>
            <p:ph idx="1" type="body"/>
          </p:nvPr>
        </p:nvSpPr>
        <p:spPr>
          <a:xfrm>
            <a:off x="541200" y="1902750"/>
            <a:ext cx="8061600" cy="13380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AutoNum type="arabicPeriod" startAt="4"/>
            </a:pPr>
            <a:r>
              <a:rPr b="1" lang="en" sz="1100">
                <a:solidFill>
                  <a:schemeClr val="dk1"/>
                </a:solidFill>
              </a:rPr>
              <a:t>How did we come up with this proposal?</a:t>
            </a:r>
            <a:endParaRPr b="1" sz="1100">
              <a:solidFill>
                <a:schemeClr val="dk1"/>
              </a:solidFill>
            </a:endParaRPr>
          </a:p>
          <a:p>
            <a:pPr indent="0" lvl="0" marL="0" rtl="0" algn="l">
              <a:lnSpc>
                <a:spcPct val="115000"/>
              </a:lnSpc>
              <a:spcBef>
                <a:spcPts val="1200"/>
              </a:spcBef>
              <a:spcAft>
                <a:spcPts val="0"/>
              </a:spcAft>
              <a:buClr>
                <a:schemeClr val="dk1"/>
              </a:buClr>
              <a:buSzPts val="1800"/>
              <a:buFont typeface="Arial"/>
              <a:buNone/>
            </a:pPr>
            <a:r>
              <a:rPr b="1" lang="en" sz="1100">
                <a:solidFill>
                  <a:schemeClr val="dk1"/>
                </a:solidFill>
              </a:rPr>
              <a:t>Select. </a:t>
            </a:r>
            <a:r>
              <a:rPr lang="en" sz="1100">
                <a:solidFill>
                  <a:schemeClr val="dk1"/>
                </a:solidFill>
              </a:rPr>
              <a:t>We scored five community problems on significance, feasibility, STEM depth, replicability and originality. Creek plastic won. [Edit to match your process.]</a:t>
            </a:r>
            <a:endParaRPr b="1" sz="1100">
              <a:solidFill>
                <a:schemeClr val="dk1"/>
              </a:solidFill>
            </a:endParaRPr>
          </a:p>
          <a:p>
            <a:pPr indent="0" lvl="0" marL="0" rtl="0" algn="l">
              <a:lnSpc>
                <a:spcPct val="115000"/>
              </a:lnSpc>
              <a:spcBef>
                <a:spcPts val="1200"/>
              </a:spcBef>
              <a:spcAft>
                <a:spcPts val="0"/>
              </a:spcAft>
              <a:buClr>
                <a:schemeClr val="dk1"/>
              </a:buClr>
              <a:buSzPts val="1800"/>
              <a:buFont typeface="Arial"/>
              <a:buNone/>
            </a:pPr>
            <a:r>
              <a:rPr b="1" lang="en" sz="1100">
                <a:solidFill>
                  <a:schemeClr val="dk1"/>
                </a:solidFill>
              </a:rPr>
              <a:t>What exists. </a:t>
            </a:r>
            <a:r>
              <a:rPr lang="en" sz="1100">
                <a:solidFill>
                  <a:schemeClr val="dk1"/>
                </a:solidFill>
              </a:rPr>
              <a:t>Cameras detect floating plastic but remove nothing (Kataoka et al., 2024). Solar Interceptor barriers and an AI boat are planned or piloted on large Pasig-area rivers (The Ocean Cleanup, 2026, Manila Bulletin, 2025). Trash traps record only weight (Philstar, 2022). Brand audits are manual (Break Free From Plastic, 2021). Tiny on-chip classifiers have only had controlled tests (Mendez-Cruz et al., 2024).</a:t>
            </a:r>
            <a:endParaRPr b="1" sz="1100">
              <a:solidFill>
                <a:schemeClr val="dk1"/>
              </a:solidFill>
            </a:endParaRPr>
          </a:p>
          <a:p>
            <a:pPr indent="0" lvl="0" marL="0" rtl="0" algn="l">
              <a:lnSpc>
                <a:spcPct val="115000"/>
              </a:lnSpc>
              <a:spcBef>
                <a:spcPts val="1200"/>
              </a:spcBef>
              <a:spcAft>
                <a:spcPts val="0"/>
              </a:spcAft>
              <a:buClr>
                <a:schemeClr val="dk1"/>
              </a:buClr>
              <a:buSzPts val="1800"/>
              <a:buFont typeface="Arial"/>
              <a:buNone/>
            </a:pPr>
            <a:r>
              <a:rPr b="1" lang="en" sz="1100">
                <a:solidFill>
                  <a:schemeClr val="dk1"/>
                </a:solidFill>
              </a:rPr>
              <a:t>Gap we test. </a:t>
            </a:r>
            <a:r>
              <a:rPr lang="en" sz="1100">
                <a:solidFill>
                  <a:schemeClr val="dk1"/>
                </a:solidFill>
              </a:rPr>
              <a:t>No system we found patrols a creek, collects plastic, counts it item by item and shares open data at barangay cost. Can a PHP 16,000 robot boat match a hand audit within 15%, and does continuous counting show rain-driven pulses of plastic (van Emmerik et al., 2022) that weekly audits miss?</a:t>
            </a:r>
            <a:endParaRPr b="1" sz="1100">
              <a:solidFill>
                <a:schemeClr val="dk1"/>
              </a:solidFill>
            </a:endParaRPr>
          </a:p>
          <a:p>
            <a:pPr indent="0" lvl="0" marL="0" rtl="0" algn="l">
              <a:lnSpc>
                <a:spcPct val="115000"/>
              </a:lnSpc>
              <a:spcBef>
                <a:spcPts val="1200"/>
              </a:spcBef>
              <a:spcAft>
                <a:spcPts val="1200"/>
              </a:spcAft>
              <a:buClr>
                <a:schemeClr val="dk1"/>
              </a:buClr>
              <a:buSzPts val="1800"/>
              <a:buFont typeface="Arial"/>
              <a:buNone/>
            </a:pPr>
            <a:r>
              <a:rPr b="1" lang="en" sz="1100">
                <a:solidFill>
                  <a:schemeClr val="dk1"/>
                </a:solidFill>
              </a:rPr>
              <a:t>Sources: </a:t>
            </a:r>
            <a:r>
              <a:rPr lang="en" sz="1100">
                <a:solidFill>
                  <a:schemeClr val="dk1"/>
                </a:solidFill>
              </a:rPr>
              <a:t>Break Free From Plastic 2021, David et al. 2021, Gholami et al. 2021, Kataoka et al. 2024, Manila Bulletin 2025, Meijer et al. 2021, Mendez-Cruz et al. 2024, Philstar 2022, RA 11898, The Ocean Cleanup 2026, van Emmerik et al. 2022.</a:t>
            </a:r>
            <a:endParaRPr b="1" sz="11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1" name="Shape 71"/>
        <p:cNvGrpSpPr/>
        <p:nvPr/>
      </p:nvGrpSpPr>
      <p:grpSpPr>
        <a:xfrm>
          <a:off x="0" y="0"/>
          <a:ext cx="0" cy="0"/>
          <a:chOff x="0" y="0"/>
          <a:chExt cx="0" cy="0"/>
        </a:xfrm>
      </p:grpSpPr>
      <p:sp>
        <p:nvSpPr>
          <p:cNvPr id="72" name="Google Shape;72;p4"/>
          <p:cNvSpPr txBox="1"/>
          <p:nvPr>
            <p:ph idx="1" type="body"/>
          </p:nvPr>
        </p:nvSpPr>
        <p:spPr>
          <a:xfrm>
            <a:off x="541200" y="1928100"/>
            <a:ext cx="8061600" cy="12873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AutoNum type="arabicPeriod" startAt="5"/>
            </a:pPr>
            <a:r>
              <a:rPr b="1" lang="en" sz="1100">
                <a:solidFill>
                  <a:schemeClr val="dk1"/>
                </a:solidFill>
              </a:rPr>
              <a:t>How will this tech solution work?</a:t>
            </a:r>
            <a:endParaRPr b="1" sz="1100">
              <a:solidFill>
                <a:schemeClr val="dk1"/>
              </a:solidFill>
            </a:endParaRPr>
          </a:p>
          <a:p>
            <a:pPr indent="0" lvl="0" marL="0" rtl="0" algn="l">
              <a:lnSpc>
                <a:spcPct val="115000"/>
              </a:lnSpc>
              <a:spcBef>
                <a:spcPts val="1200"/>
              </a:spcBef>
              <a:spcAft>
                <a:spcPts val="0"/>
              </a:spcAft>
              <a:buSzPts val="1800"/>
              <a:buNone/>
            </a:pPr>
            <a:r>
              <a:rPr b="1" lang="en" sz="1100">
                <a:solidFill>
                  <a:schemeClr val="dk1"/>
                </a:solidFill>
              </a:rPr>
              <a:t>Summary. </a:t>
            </a:r>
            <a:r>
              <a:rPr lang="en" sz="1100">
                <a:solidFill>
                  <a:schemeClr val="dk1"/>
                </a:solidFill>
              </a:rPr>
              <a:t>A solar robot boat patrols between two barriers, the upstream one angling hyacinth mats to the bank. A bow camera runs an object detector, the boat steers to the plastic it boxes, and a scoop lifts it onto a cleated conveyor, one item per pocket. A second camera runs a 2D CNN (Gholami et al., 2021, David et al., 2021), and a servo gate sends plastic to Bin A and plants, mixed or unsure items to Bin B. Weekly reports, a monthly Plastic Trend Scoreboard and a flood alarm serve the barangay.</a:t>
            </a:r>
            <a:endParaRPr b="1" sz="1100">
              <a:solidFill>
                <a:schemeClr val="dk1"/>
              </a:solidFill>
            </a:endParaRPr>
          </a:p>
          <a:p>
            <a:pPr indent="0" lvl="0" marL="0" rtl="0" algn="l">
              <a:lnSpc>
                <a:spcPct val="115000"/>
              </a:lnSpc>
              <a:spcBef>
                <a:spcPts val="600"/>
              </a:spcBef>
              <a:spcAft>
                <a:spcPts val="0"/>
              </a:spcAft>
              <a:buSzPts val="1800"/>
              <a:buNone/>
            </a:pPr>
            <a:r>
              <a:rPr b="1" lang="en" sz="1100">
                <a:solidFill>
                  <a:schemeClr val="dk1"/>
                </a:solidFill>
              </a:rPr>
              <a:t>Reliability. </a:t>
            </a:r>
            <a:r>
              <a:rPr lang="en" sz="1100">
                <a:solidFill>
                  <a:schemeClr val="dk1"/>
                </a:solidFill>
              </a:rPr>
              <a:t>A skirted hood and fixed LED give every photo the same light, and a hydrophobic film, angled window and desiccant pack keep housings clear of fog. A blob count flags mixed items. Photos are augmented with color shifts, blur, rotation and synthetic mud and droplets.</a:t>
            </a:r>
            <a:endParaRPr b="1" sz="1100">
              <a:solidFill>
                <a:schemeClr val="dk1"/>
              </a:solidFill>
            </a:endParaRPr>
          </a:p>
          <a:p>
            <a:pPr indent="0" lvl="0" marL="0" rtl="0" algn="l">
              <a:lnSpc>
                <a:spcPct val="115000"/>
              </a:lnSpc>
              <a:spcBef>
                <a:spcPts val="600"/>
              </a:spcBef>
              <a:spcAft>
                <a:spcPts val="0"/>
              </a:spcAft>
              <a:buSzPts val="1800"/>
              <a:buNone/>
            </a:pPr>
            <a:r>
              <a:rPr b="1" lang="en" sz="1100">
                <a:solidFill>
                  <a:schemeClr val="dk1"/>
                </a:solidFill>
              </a:rPr>
              <a:t>Power and end of life. </a:t>
            </a:r>
            <a:r>
              <a:rPr lang="en" sz="1100">
                <a:solidFill>
                  <a:schemeClr val="dk1"/>
                </a:solidFill>
              </a:rPr>
              <a:t>Boards deep-sleep between patrols and the belt camera wakes only for an item. Floats, bins and hardware are PVC, plastic and stainless steel for local salvage, and the flood node's protected 18650 cell sits in an IP67 box.</a:t>
            </a:r>
            <a:endParaRPr b="1" sz="1100">
              <a:solidFill>
                <a:schemeClr val="dk1"/>
              </a:solidFill>
            </a:endParaRPr>
          </a:p>
          <a:p>
            <a:pPr indent="0" lvl="0" marL="0" rtl="0" algn="l">
              <a:lnSpc>
                <a:spcPct val="115000"/>
              </a:lnSpc>
              <a:spcBef>
                <a:spcPts val="600"/>
              </a:spcBef>
              <a:spcAft>
                <a:spcPts val="0"/>
              </a:spcAft>
              <a:buSzPts val="1800"/>
              <a:buNone/>
            </a:pPr>
            <a:r>
              <a:rPr b="1" lang="en" sz="1100">
                <a:solidFill>
                  <a:schemeClr val="dk1"/>
                </a:solidFill>
              </a:rPr>
              <a:t>STEM. </a:t>
            </a:r>
            <a:r>
              <a:rPr lang="en" sz="1100">
                <a:solidFill>
                  <a:schemeClr val="dk1"/>
                </a:solidFill>
              </a:rPr>
              <a:t>Physics sets buoyancy, thrust and the solar budget, mathematics defines precision, recall and count error, and computer science supplies the detector and CNN.</a:t>
            </a:r>
            <a:endParaRPr b="1" sz="1100">
              <a:solidFill>
                <a:schemeClr val="dk1"/>
              </a:solidFill>
            </a:endParaRPr>
          </a:p>
          <a:p>
            <a:pPr indent="0" lvl="0" marL="0" rtl="0" algn="l">
              <a:lnSpc>
                <a:spcPct val="115000"/>
              </a:lnSpc>
              <a:spcBef>
                <a:spcPts val="600"/>
              </a:spcBef>
              <a:spcAft>
                <a:spcPts val="1200"/>
              </a:spcAft>
              <a:buSzPts val="1800"/>
              <a:buNone/>
            </a:pPr>
            <a:r>
              <a:rPr b="1" lang="en" sz="1100">
                <a:solidFill>
                  <a:schemeClr val="dk1"/>
                </a:solidFill>
              </a:rPr>
              <a:t>Key message. </a:t>
            </a:r>
            <a:r>
              <a:rPr lang="en" sz="1100">
                <a:solidFill>
                  <a:schemeClr val="dk1"/>
                </a:solidFill>
              </a:rPr>
              <a:t>Proof of what plastic reaches a creek can be continuous, cheap and community-owned.</a:t>
            </a:r>
            <a:endParaRPr b="1" sz="11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6" name="Shape 76"/>
        <p:cNvGrpSpPr/>
        <p:nvPr/>
      </p:nvGrpSpPr>
      <p:grpSpPr>
        <a:xfrm>
          <a:off x="0" y="0"/>
          <a:ext cx="0" cy="0"/>
          <a:chOff x="0" y="0"/>
          <a:chExt cx="0" cy="0"/>
        </a:xfrm>
      </p:grpSpPr>
      <p:sp>
        <p:nvSpPr>
          <p:cNvPr id="77" name="Google Shape;77;p5"/>
          <p:cNvSpPr txBox="1"/>
          <p:nvPr>
            <p:ph idx="1" type="body"/>
          </p:nvPr>
        </p:nvSpPr>
        <p:spPr>
          <a:xfrm>
            <a:off x="541200" y="1284450"/>
            <a:ext cx="8061600" cy="25746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AutoNum type="arabicPeriod" startAt="6"/>
            </a:pPr>
            <a:r>
              <a:rPr b="1" lang="en" sz="1100">
                <a:solidFill>
                  <a:schemeClr val="dk1"/>
                </a:solidFill>
              </a:rPr>
              <a:t>How do we implement this?</a:t>
            </a:r>
            <a:endParaRPr b="1" sz="1100">
              <a:solidFill>
                <a:schemeClr val="dk1"/>
              </a:solidFill>
            </a:endParaRPr>
          </a:p>
          <a:p>
            <a:pPr indent="0" lvl="0" marL="0" rtl="0" algn="l">
              <a:lnSpc>
                <a:spcPct val="115000"/>
              </a:lnSpc>
              <a:spcBef>
                <a:spcPts val="1200"/>
              </a:spcBef>
              <a:spcAft>
                <a:spcPts val="0"/>
              </a:spcAft>
              <a:buSzPts val="1800"/>
              <a:buNone/>
            </a:pPr>
            <a:r>
              <a:rPr lang="en" sz="1100">
                <a:solidFill>
                  <a:schemeClr val="dk1"/>
                </a:solidFill>
              </a:rPr>
              <a:t>A pilot unit costs about PHP 16,000, built in three stages that are each bought only after the previous test passes.</a:t>
            </a:r>
            <a:endParaRPr sz="1100">
              <a:solidFill>
                <a:schemeClr val="dk1"/>
              </a:solidFill>
            </a:endParaRPr>
          </a:p>
          <a:p>
            <a:pPr indent="0" lvl="0" marL="0" rtl="0" algn="l">
              <a:lnSpc>
                <a:spcPct val="115000"/>
              </a:lnSpc>
              <a:spcBef>
                <a:spcPts val="1200"/>
              </a:spcBef>
              <a:spcAft>
                <a:spcPts val="0"/>
              </a:spcAft>
              <a:buSzPts val="1800"/>
              <a:buNone/>
            </a:pPr>
            <a:r>
              <a:rPr b="1" lang="en" sz="1100">
                <a:solidFill>
                  <a:schemeClr val="dk1"/>
                </a:solidFill>
              </a:rPr>
              <a:t>Resources:</a:t>
            </a:r>
            <a:r>
              <a:rPr lang="en" sz="1100">
                <a:solidFill>
                  <a:schemeClr val="dk1"/>
                </a:solidFill>
              </a:rPr>
              <a:t> floats, frame and deck 2,300, thrusters 1,800, conveyor 2,000, ESP32-S3 camera set 1,850, bow detector 600, sensors 900, gate and bins 300, battery and wiring 2,400, 30 W panel 1,100, hardware 500, flood node 1,000, dock and barriers 600, contingency 650. Stages: bench 7,650, boat 6,100, dock and flood node 1,600. Timeline: screening Nov 9 to 13, mentorship Nov 16 to Dec 5, pitch Dec 7, creek pilot Jan to Feb.</a:t>
            </a:r>
            <a:endParaRPr sz="1100">
              <a:solidFill>
                <a:schemeClr val="dk1"/>
              </a:solidFill>
            </a:endParaRPr>
          </a:p>
          <a:p>
            <a:pPr indent="0" lvl="0" marL="0" rtl="0" algn="l">
              <a:lnSpc>
                <a:spcPct val="115000"/>
              </a:lnSpc>
              <a:spcBef>
                <a:spcPts val="1200"/>
              </a:spcBef>
              <a:spcAft>
                <a:spcPts val="0"/>
              </a:spcAft>
              <a:buSzPts val="1800"/>
              <a:buNone/>
            </a:pPr>
            <a:r>
              <a:rPr b="1" lang="en" sz="1100">
                <a:solidFill>
                  <a:schemeClr val="dk1"/>
                </a:solidFill>
              </a:rPr>
              <a:t>Stakeholders:</a:t>
            </a:r>
            <a:r>
              <a:rPr lang="en" sz="1100">
                <a:solidFill>
                  <a:schemeClr val="dk1"/>
                </a:solidFill>
              </a:rPr>
              <a:t> barangay captain and sanitation officers (site approval, bin emptying, flood alarm, one-page agreement), city solid-waste office and DENR (use the data), adviser and school head (supervision, safety), and residents (consent).</a:t>
            </a:r>
            <a:endParaRPr sz="1100">
              <a:solidFill>
                <a:schemeClr val="dk1"/>
              </a:solidFill>
            </a:endParaRPr>
          </a:p>
          <a:p>
            <a:pPr indent="0" lvl="0" marL="0" rtl="0" algn="l">
              <a:lnSpc>
                <a:spcPct val="115000"/>
              </a:lnSpc>
              <a:spcBef>
                <a:spcPts val="1200"/>
              </a:spcBef>
              <a:spcAft>
                <a:spcPts val="1200"/>
              </a:spcAft>
              <a:buSzPts val="1800"/>
              <a:buNone/>
            </a:pPr>
            <a:r>
              <a:rPr b="1" lang="en" sz="1100">
                <a:solidFill>
                  <a:schemeClr val="dk1"/>
                </a:solidFill>
              </a:rPr>
              <a:t>Risks &amp; Mitigation:</a:t>
            </a:r>
            <a:r>
              <a:rPr lang="en" sz="1100">
                <a:solidFill>
                  <a:schemeClr val="dk1"/>
                </a:solidFill>
              </a:rPr>
              <a:t> Manual labor: bin emptying and snag clearing, logged in hours. Stability: foam-filled floats, tilt cut-off, pond tests. Navigation: barriers, side sensors, compass and phone remote. Hyacinth: upstream barrier, plant class and shrouded propellers. Fog, glare and mixed items: hood, hydrophobic film, angled window and a blob count that sends mixed items to Bin B. Fast water: stays docked. Permission: barangay and city approval.</a:t>
            </a:r>
            <a:endParaRPr sz="11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1" name="Shape 81"/>
        <p:cNvGrpSpPr/>
        <p:nvPr/>
      </p:nvGrpSpPr>
      <p:grpSpPr>
        <a:xfrm>
          <a:off x="0" y="0"/>
          <a:ext cx="0" cy="0"/>
          <a:chOff x="0" y="0"/>
          <a:chExt cx="0" cy="0"/>
        </a:xfrm>
      </p:grpSpPr>
      <p:sp>
        <p:nvSpPr>
          <p:cNvPr id="82" name="Google Shape;82;p6"/>
          <p:cNvSpPr txBox="1"/>
          <p:nvPr>
            <p:ph idx="1" type="body"/>
          </p:nvPr>
        </p:nvSpPr>
        <p:spPr>
          <a:xfrm>
            <a:off x="541200" y="1284450"/>
            <a:ext cx="8061600" cy="33591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AutoNum type="arabicPeriod" startAt="7"/>
            </a:pPr>
            <a:r>
              <a:rPr b="1" lang="en" sz="1100">
                <a:solidFill>
                  <a:schemeClr val="dk1"/>
                </a:solidFill>
              </a:rPr>
              <a:t>What kind of impact do we hope to achieve and what is the long term vision for this proposal?</a:t>
            </a:r>
            <a:endParaRPr b="1" sz="1100">
              <a:solidFill>
                <a:schemeClr val="dk1"/>
              </a:solidFill>
            </a:endParaRPr>
          </a:p>
          <a:p>
            <a:pPr indent="0" lvl="0" marL="0" rtl="0" algn="l">
              <a:lnSpc>
                <a:spcPct val="115000"/>
              </a:lnSpc>
              <a:spcBef>
                <a:spcPts val="1200"/>
              </a:spcBef>
              <a:spcAft>
                <a:spcPts val="0"/>
              </a:spcAft>
              <a:buSzPts val="1800"/>
              <a:buNone/>
            </a:pPr>
            <a:r>
              <a:rPr lang="en" sz="1100">
                <a:solidFill>
                  <a:schemeClr val="dk1"/>
                </a:solidFill>
              </a:rPr>
              <a:t>Success means plastic lifted from a real creek, a trustworthy weekly record of what it was and a flood alarm that works.</a:t>
            </a:r>
            <a:endParaRPr sz="1100">
              <a:solidFill>
                <a:schemeClr val="dk1"/>
              </a:solidFill>
            </a:endParaRPr>
          </a:p>
          <a:p>
            <a:pPr indent="0" lvl="0" marL="0" rtl="0" algn="l">
              <a:lnSpc>
                <a:spcPct val="115000"/>
              </a:lnSpc>
              <a:spcBef>
                <a:spcPts val="1200"/>
              </a:spcBef>
              <a:spcAft>
                <a:spcPts val="0"/>
              </a:spcAft>
              <a:buSzPts val="1800"/>
              <a:buNone/>
            </a:pPr>
            <a:r>
              <a:rPr b="1" lang="en" sz="1100">
                <a:solidFill>
                  <a:schemeClr val="dk1"/>
                </a:solidFill>
              </a:rPr>
              <a:t>Measurable Outcomes:</a:t>
            </a:r>
            <a:r>
              <a:rPr lang="en" sz="1100">
                <a:solidFill>
                  <a:schemeClr val="dk1"/>
                </a:solidFill>
              </a:rPr>
              <a:t> (1) At least 50% of floating debris removed in the patrol stretch against a baseline week, and 20 kg lifted in 8 weeks. (2) At least 1,000 classified items, weekly counts within 15% of the hand audit, 85% precision and recall on unseen places, and a flood alarm that sounds at all three marks. (3) At least 2 more sites by March 2027 at about PHP 16,000 each, with weekly labor hours reported and a monthly Plastic Trend Scoreboard at the Barangay Hall.</a:t>
            </a:r>
            <a:endParaRPr sz="1100">
              <a:solidFill>
                <a:schemeClr val="dk1"/>
              </a:solidFill>
            </a:endParaRPr>
          </a:p>
          <a:p>
            <a:pPr indent="0" lvl="0" marL="0" rtl="0" algn="l">
              <a:lnSpc>
                <a:spcPct val="115000"/>
              </a:lnSpc>
              <a:spcBef>
                <a:spcPts val="1200"/>
              </a:spcBef>
              <a:spcAft>
                <a:spcPts val="0"/>
              </a:spcAft>
              <a:buSzPts val="1800"/>
              <a:buNone/>
            </a:pPr>
            <a:r>
              <a:rPr b="1" lang="en" sz="1100">
                <a:solidFill>
                  <a:schemeClr val="dk1"/>
                </a:solidFill>
              </a:rPr>
              <a:t>Long-Term Vision:</a:t>
            </a:r>
            <a:r>
              <a:rPr lang="en" sz="1100">
                <a:solidFill>
                  <a:schemeClr val="dk1"/>
                </a:solidFill>
              </a:rPr>
              <a:t> a student-built, barangay-owned network of units along connected creeks, feeding one open dataset that shows where plastic enters, which products dominate and whether EPR commitments change what the water carries. Planned upgrades are a longer patrol stretch and a second boat.</a:t>
            </a:r>
            <a:endParaRPr sz="1100">
              <a:solidFill>
                <a:schemeClr val="dk1"/>
              </a:solidFill>
            </a:endParaRPr>
          </a:p>
          <a:p>
            <a:pPr indent="0" lvl="0" marL="0" rtl="0" algn="l">
              <a:lnSpc>
                <a:spcPct val="115000"/>
              </a:lnSpc>
              <a:spcBef>
                <a:spcPts val="1200"/>
              </a:spcBef>
              <a:spcAft>
                <a:spcPts val="1200"/>
              </a:spcAft>
              <a:buSzPts val="1800"/>
              <a:buNone/>
            </a:pPr>
            <a:r>
              <a:rPr b="1" lang="en" sz="1100">
                <a:solidFill>
                  <a:schemeClr val="dk1"/>
                </a:solidFill>
              </a:rPr>
              <a:t>Key Takeaway:</a:t>
            </a:r>
            <a:r>
              <a:rPr lang="en" sz="1100">
                <a:solidFill>
                  <a:schemeClr val="dk1"/>
                </a:solidFill>
              </a:rPr>
              <a:t> the Philippines already knows who makes much of its plastic. SAGIP makes the proof continuous, cheap and community-owned, and lifts some of the plastic out along the way.</a:t>
            </a:r>
            <a:endParaRPr sz="11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