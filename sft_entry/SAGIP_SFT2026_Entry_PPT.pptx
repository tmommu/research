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148840"/>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r>
              <a:rPr lang="en" sz="1100">
                <a:solidFill>
                  <a:schemeClr val="accent3"/>
                </a:solidFill>
              </a:rPr>
              <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a:t>
            </a:r>
            <a:r>
              <a:rPr i="0" lang="en" sz="1100">
                <a:solidFill>
                  <a:schemeClr val="dk1"/>
                </a:solidFill>
              </a:rPr>
              <a:t>Skjoukje U. Jemoya</a:t>
            </a:r>
            <a:r>
              <a:rPr lang="en" sz="1100">
                <a:solidFill>
                  <a:schemeClr val="dk1"/>
                </a:solidFill>
              </a:rPr>
              <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1700"/>
              <a:t>SAGIP: A Low-Cost, Solar-Powered Estero Guardian with On-Chip AI That Lifts Floating Plastic and Counts Every Item as Evidence for Producer Accountability</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r>
              <a:rPr lang="en" sz="1100">
                <a:solidFill>
                  <a:schemeClr val="accent3"/>
                </a:solidFill>
              </a:rPr>
              <a:t/>
            </a:r>
            <a:r>
              <a:rPr i="1" lang="en" sz="1100">
                <a:solidFill>
                  <a:schemeClr val="accent3"/>
                </a:solidFill>
              </a:rPr>
              <a:t/>
            </a:r>
            <a:r>
              <a:rPr lang="en" sz="1100">
                <a:solidFill>
                  <a:schemeClr val="accent3"/>
                </a:solidFill>
              </a:rPr>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Environmental Sustainability through Technology</a:t>
            </a:r>
            <a:endParaRPr sz="1100">
              <a:solidFill>
                <a:srgbClr val="000000"/>
              </a:solidFill>
            </a:endParaRPr>
          </a:p>
        </p:txBody>
      </p:sp>
      <p:sp>
        <p:nvSpPr>
          <p:cNvPr id="57" name="Google Shape;57;p1"/>
          <p:cNvSpPr txBox="1"/>
          <p:nvPr>
            <p:ph idx="1" type="body"/>
          </p:nvPr>
        </p:nvSpPr>
        <p:spPr>
          <a:xfrm>
            <a:off x="763800" y="3611880"/>
            <a:ext cx="7616400" cy="1371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000" i="0">
                <a:solidFill>
                  <a:schemeClr val="dk1"/>
                </a:solidFill>
              </a:rPr>
              <a:t>Our device is a low-cost, solar-powered unit in which a floating boom guides surface plastic toward the bank, a camera-triggered sweeper arm lifts it into a bin, and an ESP32-S3 camera running a tiny on-chip AI model counts each item by plastic type. Barangay officials receive a weekly offline report of what was removed and, where labels are legible, who produced it, with no images of people, plus a secondary water-level alert for impending channel blockage. Built from local and upcycled parts for about PHP 6,000 and tested against a hand-counted baseline, it adds anonymized records to an open dataset that other barangays can copy and extend.</a:t>
            </a:r>
            <a:br>
              <a:rPr lang="en" sz="1100">
                <a:solidFill>
                  <a:schemeClr val="accent3"/>
                </a:solidFill>
              </a:rPr>
            </a:br>
            <a:r>
              <a:rPr i="0" lang="en" sz="1000">
                <a:solidFill>
                  <a:schemeClr val="accent3"/>
                </a:solidFill>
              </a:rPr>
              <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1051560"/>
            <a:ext cx="8061600" cy="3931920"/>
          </a:xfrm>
          <a:prstGeom prst="rect">
            <a:avLst/>
          </a:prstGeom>
          <a:noFill/>
          <a:ln>
            <a:noFill/>
          </a:ln>
        </p:spPr>
        <p:txBody>
          <a:bodyPr anchorCtr="0" anchor="t" bIns="91425" lIns="91425" spcFirstLastPara="1" rIns="91425" wrap="square" tIns="91425">
            <a:noAutofit/>
          </a:bodyPr>
          <a:lstStyle/>
          <a:p>
            <a:pPr indent="-298450" lvl="0" marL="457200" rtl="0" algn="l">
              <a:lnSpc>
                <a:spcPct val="105000"/>
              </a:lnSpc>
              <a:spcBef>
                <a:spcPts val="700"/>
              </a:spcBef>
              <a:spcAft>
                <a:spcPts val="0"/>
              </a:spcAft>
              <a:buClr>
                <a:schemeClr val="dk1"/>
              </a:buClr>
              <a:buSzPts val="1100"/>
              <a:buAutoNum type="arabicPeriod"/>
            </a:pPr>
            <a:r>
              <a:rPr b="1" lang="en" sz="1100">
                <a:solidFill>
                  <a:schemeClr val="dk1"/>
                </a:solidFill>
              </a:rPr>
              <a:t>What problem are we trying to solve?</a:t>
            </a:r>
          </a:p>
          <a:p>
            <a:pPr indent="0" lvl="0" marL="0" rtl="0" algn="l">
              <a:lnSpc>
                <a:spcPct val="105000"/>
              </a:lnSpc>
              <a:spcBef>
                <a:spcPts val="400"/>
              </a:spcBef>
              <a:spcAft>
                <a:spcPts val="0"/>
              </a:spcAft>
              <a:buSzPts val="1800"/>
              <a:buNone/>
            </a:pPr>
            <a:r>
              <a:rPr lang="en" sz="1100">
                <a:solidFill>
                  <a:schemeClr val="dk1"/>
                </a:solidFill>
              </a:rPr>
              <a:t>Plastic reaches the sea through creeks and esteros, and Philippine rivers rank among the largest sources of ocean plastic (Meijer et al., 2021). Cleanups weigh trash in bulk and record nothing about it. RA 11898 makes producers responsible for packaging, but brand audits are periodic, manual and mostly land-based (Break Free From Plastic, 2019). </a:t>
            </a:r>
            <a:r>
              <a:rPr lang="en" sz="1100" b="1">
                <a:solidFill>
                  <a:schemeClr val="dk1"/>
                </a:solidFill>
              </a:rPr>
              <a:t>The gap:</a:t>
            </a:r>
            <a:r>
              <a:rPr lang="en" sz="1100">
                <a:solidFill>
                  <a:schemeClr val="dk1"/>
                </a:solidFill>
              </a:rPr>
              <a:t> a continuous, low-cost record taken at the creek itself that one barangay can run. A blocked channel is a related hazard.</a:t>
            </a:r>
          </a:p>
          <a:p>
            <a:pPr indent="-298450" lvl="0" marL="457200" rtl="0" algn="l">
              <a:lnSpc>
                <a:spcPct val="105000"/>
              </a:lnSpc>
              <a:spcBef>
                <a:spcPts val="700"/>
              </a:spcBef>
              <a:spcAft>
                <a:spcPts val="0"/>
              </a:spcAft>
              <a:buClr>
                <a:schemeClr val="dk1"/>
              </a:buClr>
              <a:buSzPts val="1100"/>
              <a:buAutoNum type="arabicPeriod"/>
            </a:pPr>
            <a:r>
              <a:rPr b="1" lang="en" sz="1100">
                <a:solidFill>
                  <a:schemeClr val="dk1"/>
                </a:solidFill>
              </a:rPr>
              <a:t>What do we want to achieve?</a:t>
            </a:r>
          </a:p>
          <a:p>
            <a:pPr indent="0" lvl="0" marL="0" rtl="0" algn="l">
              <a:lnSpc>
                <a:spcPct val="105000"/>
              </a:lnSpc>
              <a:spcBef>
                <a:spcPts val="400"/>
              </a:spcBef>
              <a:spcAft>
                <a:spcPts val="0"/>
              </a:spcAft>
              <a:buSzPts val="1800"/>
              <a:buNone/>
            </a:pPr>
            <a:r>
              <a:rPr lang="en" sz="1100" b="1">
                <a:solidFill>
                  <a:schemeClr val="dk1"/>
                </a:solidFill>
              </a:rPr>
              <a:t>Goal: </a:t>
            </a:r>
            <a:r>
              <a:rPr lang="en" sz="1100">
                <a:solidFill>
                  <a:schemeClr val="dk1"/>
                </a:solidFill>
              </a:rPr>
              <a:t>make creek plastic measurable evidence instead of invisible waste, with cleaner creeks now and community-owned data that shifts the burden of proof to packaging producers.</a:t>
            </a:r>
          </a:p>
          <a:p>
            <a:pPr indent="0" lvl="0" marL="0" rtl="0" algn="l">
              <a:lnSpc>
                <a:spcPct val="105000"/>
              </a:lnSpc>
              <a:spcBef>
                <a:spcPts val="400"/>
              </a:spcBef>
              <a:spcAft>
                <a:spcPts val="0"/>
              </a:spcAft>
              <a:buSzPts val="1800"/>
              <a:buNone/>
            </a:pPr>
            <a:r>
              <a:rPr lang="en" sz="1100" b="1">
                <a:solidFill>
                  <a:schemeClr val="dk1"/>
                </a:solidFill>
              </a:rPr>
              <a:t>Objectives (SMART): </a:t>
            </a:r>
            <a:r>
              <a:rPr lang="en" sz="1100" b="1">
                <a:solidFill>
                  <a:schemeClr val="dk1"/>
                </a:solidFill>
              </a:rPr>
              <a:t>1. Remove plastic.</a:t>
            </a:r>
            <a:r>
              <a:rPr lang="en" sz="1100">
                <a:solidFill>
                  <a:schemeClr val="dk1"/>
                </a:solidFill>
              </a:rPr>
              <a:t> In an 8-week pilot from December 2026, lift at least [TARGET] kg of floating debris and capture at least [X]% of what reaches the boom, against a baseline week. </a:t>
            </a:r>
            <a:r>
              <a:rPr lang="en" sz="1100" b="1">
                <a:solidFill>
                  <a:schemeClr val="dk1"/>
                </a:solidFill>
              </a:rPr>
              <a:t>2. Prove what it is.</a:t>
            </a:r>
            <a:r>
              <a:rPr lang="en" sz="1100">
                <a:solidFill>
                  <a:schemeClr val="dk1"/>
                </a:solidFill>
              </a:rPr>
              <a:t> By Nov 20, reach 85% precision and recall on unseen photos, then keep weekly counts within 15% of a hand audit. </a:t>
            </a:r>
            <a:r>
              <a:rPr lang="en" sz="1100" b="1">
                <a:solidFill>
                  <a:schemeClr val="dk1"/>
                </a:solidFill>
              </a:rPr>
              <a:t>3. Make it copyable.</a:t>
            </a:r>
            <a:r>
              <a:rPr lang="en" sz="1100">
                <a:solidFill>
                  <a:schemeClr val="dk1"/>
                </a:solidFill>
              </a:rPr>
              <a:t> By March 2027, a free build guide in English and Filipino, an open dataset, and 2+ more barangays or schools building a unit for about PHP 6,000.</a:t>
            </a:r>
          </a:p>
          <a:p>
            <a:pPr indent="-298450" lvl="0" marL="457200" rtl="0" algn="l">
              <a:lnSpc>
                <a:spcPct val="105000"/>
              </a:lnSpc>
              <a:spcBef>
                <a:spcPts val="700"/>
              </a:spcBef>
              <a:spcAft>
                <a:spcPts val="0"/>
              </a:spcAft>
              <a:buClr>
                <a:schemeClr val="dk1"/>
              </a:buClr>
              <a:buSzPts val="1100"/>
              <a:buAutoNum type="arabicPeriod"/>
            </a:pPr>
            <a:r>
              <a:rPr b="1" lang="en" sz="1100">
                <a:solidFill>
                  <a:schemeClr val="dk1"/>
                </a:solidFill>
              </a:rPr>
              <a:t>Who will benefit from this project?</a:t>
            </a:r>
          </a:p>
          <a:p>
            <a:pPr indent="0" lvl="0" marL="0" rtl="0" algn="l">
              <a:lnSpc>
                <a:spcPct val="105000"/>
              </a:lnSpc>
              <a:spcBef>
                <a:spcPts val="400"/>
              </a:spcBef>
              <a:spcAft>
                <a:spcPts val="0"/>
              </a:spcAft>
              <a:buSzPts val="1800"/>
              <a:buNone/>
            </a:pPr>
            <a:r>
              <a:rPr lang="en" sz="1100" b="1">
                <a:solidFill>
                  <a:schemeClr val="dk1"/>
                </a:solidFill>
              </a:rPr>
              <a:t>Primary: </a:t>
            </a:r>
            <a:r>
              <a:rPr lang="en" sz="1100">
                <a:solidFill>
                  <a:schemeClr val="dk1"/>
                </a:solidFill>
              </a:rPr>
              <a:t>the [N] households of [barangay and purok] along [estero] and the barangay sanitation officers. </a:t>
            </a:r>
            <a:r>
              <a:rPr lang="en" sz="1100" b="1">
                <a:solidFill>
                  <a:schemeClr val="dk1"/>
                </a:solidFill>
              </a:rPr>
              <a:t>Secondary: </a:t>
            </a:r>
            <a:r>
              <a:rPr lang="en" sz="1100">
                <a:solidFill>
                  <a:schemeClr val="dk1"/>
                </a:solidFill>
              </a:rPr>
              <a:t>the city solid-waste office and DENR, who need item-level evidence, 2+ more barangays or schools by March 2027, and downstream fisherfolk.</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051560"/>
            <a:ext cx="8061600" cy="3931920"/>
          </a:xfrm>
          <a:prstGeom prst="rect">
            <a:avLst/>
          </a:prstGeom>
          <a:noFill/>
          <a:ln>
            <a:noFill/>
          </a:ln>
        </p:spPr>
        <p:txBody>
          <a:bodyPr anchorCtr="0" anchor="t" bIns="91425" lIns="91425" spcFirstLastPara="1" rIns="91425" wrap="square" tIns="91425">
            <a:noAutofit/>
          </a:bodyPr>
          <a:lstStyle/>
          <a:p>
            <a:pPr indent="-298450" lvl="0" marL="457200" rtl="0" algn="l">
              <a:lnSpc>
                <a:spcPct val="105000"/>
              </a:lnSpc>
              <a:spcBef>
                <a:spcPts val="700"/>
              </a:spcBef>
              <a:spcAft>
                <a:spcPts val="0"/>
              </a:spcAft>
              <a:buClr>
                <a:schemeClr val="dk1"/>
              </a:buClr>
              <a:buSzPts val="1100"/>
              <a:buAutoNum type="arabicPeriod" startAt="4"/>
            </a:pPr>
            <a:r>
              <a:rPr b="1" lang="en" sz="1100">
                <a:solidFill>
                  <a:schemeClr val="dk1"/>
                </a:solidFill>
              </a:rPr>
              <a:t>How did we come up with this proposal?</a:t>
            </a:r>
          </a:p>
          <a:p>
            <a:pPr indent="0" lvl="0" marL="0" rtl="0" algn="l">
              <a:lnSpc>
                <a:spcPct val="105000"/>
              </a:lnSpc>
              <a:spcBef>
                <a:spcPts val="400"/>
              </a:spcBef>
              <a:spcAft>
                <a:spcPts val="0"/>
              </a:spcAft>
              <a:buSzPts val="1800"/>
              <a:buNone/>
            </a:pPr>
            <a:r>
              <a:rPr lang="en" sz="1100" b="1">
                <a:solidFill>
                  <a:schemeClr val="dk1"/>
                </a:solidFill>
              </a:rPr>
              <a:t>Select. </a:t>
            </a:r>
            <a:r>
              <a:rPr lang="en" sz="1100">
                <a:solidFill>
                  <a:schemeClr val="dk1"/>
                </a:solidFill>
              </a:rPr>
              <a:t>We scored five community problems on significance, feasibility, STEM depth, replicability and originality. Creek plastic won. We can reach a creek, measure it weekly, and RA 11898 has just made item-level data useful. [Edit to match your process.]</a:t>
            </a:r>
          </a:p>
          <a:p>
            <a:pPr indent="0" lvl="0" marL="0" rtl="0" algn="l">
              <a:lnSpc>
                <a:spcPct val="105000"/>
              </a:lnSpc>
              <a:spcBef>
                <a:spcPts val="400"/>
              </a:spcBef>
              <a:spcAft>
                <a:spcPts val="0"/>
              </a:spcAft>
              <a:buSzPts val="1800"/>
              <a:buNone/>
            </a:pPr>
            <a:r>
              <a:rPr lang="en" sz="1100" b="1">
                <a:solidFill>
                  <a:schemeClr val="dk1"/>
                </a:solidFill>
              </a:rPr>
              <a:t>What exists. </a:t>
            </a:r>
            <a:r>
              <a:rPr lang="en" sz="1100">
                <a:solidFill>
                  <a:schemeClr val="dk1"/>
                </a:solidFill>
              </a:rPr>
              <a:t>Cameras with deep learning count floating plastic from bridges but remove nothing (van Lieshout et al., 2020). Low-cost robotic boats detect and collect plastic but need radio, charging and an operator (HydroSentinel, 2026). Estero trash traps remove plastic at scale but record bulk weight only (Manila Bulletin, 2026). Brand audits name the companies but are periodic and manual (Break Free From Plastic, 2019).</a:t>
            </a:r>
          </a:p>
          <a:p>
            <a:pPr indent="0" lvl="0" marL="0" rtl="0" algn="l">
              <a:lnSpc>
                <a:spcPct val="105000"/>
              </a:lnSpc>
              <a:spcBef>
                <a:spcPts val="400"/>
              </a:spcBef>
              <a:spcAft>
                <a:spcPts val="0"/>
              </a:spcAft>
              <a:buSzPts val="1800"/>
              <a:buNone/>
            </a:pPr>
            <a:r>
              <a:rPr lang="en" sz="1100" b="1">
                <a:solidFill>
                  <a:schemeClr val="dk1"/>
                </a:solidFill>
              </a:rPr>
              <a:t>Gap we test. </a:t>
            </a:r>
            <a:r>
              <a:rPr lang="en" sz="1100">
                <a:solidFill>
                  <a:schemeClr val="dk1"/>
                </a:solidFill>
              </a:rPr>
              <a:t>None of these lifts, counts and shares open data in a unit a barangay can afford. Our search was limited. We ask: can a PHP 6,000 on-chip counter match a trained hand audit within 15%, and does continuous counting reveal rain-driven pulses of plastic that weekly audits miss?</a:t>
            </a:r>
          </a:p>
          <a:p>
            <a:pPr indent="0" lvl="0" marL="0" rtl="0" algn="l">
              <a:lnSpc>
                <a:spcPct val="105000"/>
              </a:lnSpc>
              <a:spcBef>
                <a:spcPts val="400"/>
              </a:spcBef>
              <a:spcAft>
                <a:spcPts val="0"/>
              </a:spcAft>
              <a:buSzPts val="1800"/>
              <a:buNone/>
            </a:pPr>
            <a:r>
              <a:rPr lang="en" sz="1100" b="1">
                <a:solidFill>
                  <a:schemeClr val="dk1"/>
                </a:solidFill>
              </a:rPr>
              <a:t>Sources: </a:t>
            </a:r>
            <a:r>
              <a:rPr lang="en" sz="1100">
                <a:solidFill>
                  <a:schemeClr val="dk1"/>
                </a:solidFill>
              </a:rPr>
              <a:t>Break Free From Plastic 2019; HydroSentinel 2026 (ScienceDirect); Manila Bulletin 2026; Meijer 2021 (Science Advances); RA 11898; van Lieshout 2020 (Earth and Space Science).</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39496" y="1051560"/>
            <a:ext cx="4526280" cy="3931920"/>
          </a:xfrm>
          <a:prstGeom prst="rect">
            <a:avLst/>
          </a:prstGeom>
          <a:noFill/>
          <a:ln>
            <a:noFill/>
          </a:ln>
        </p:spPr>
        <p:txBody>
          <a:bodyPr anchorCtr="0" anchor="t" bIns="91425" lIns="91425" spcFirstLastPara="1" rIns="91425" wrap="square" tIns="91425">
            <a:noAutofit/>
          </a:bodyPr>
          <a:lstStyle/>
          <a:p>
            <a:pPr indent="-298450" lvl="0" marL="457200" rtl="0" algn="l">
              <a:lnSpc>
                <a:spcPct val="105000"/>
              </a:lnSpc>
              <a:spcBef>
                <a:spcPts val="700"/>
              </a:spcBef>
              <a:spcAft>
                <a:spcPts val="0"/>
              </a:spcAft>
              <a:buClr>
                <a:schemeClr val="dk1"/>
              </a:buClr>
              <a:buSzPts val="1100"/>
              <a:buAutoNum type="arabicPeriod" startAt="5"/>
            </a:pPr>
            <a:r>
              <a:rPr b="1" lang="en" sz="1100">
                <a:solidFill>
                  <a:schemeClr val="dk1"/>
                </a:solidFill>
              </a:rPr>
              <a:t>How will this tech solution work?</a:t>
            </a:r>
          </a:p>
          <a:p>
            <a:pPr indent="0" lvl="0" marL="0" rtl="0" algn="l">
              <a:lnSpc>
                <a:spcPct val="105000"/>
              </a:lnSpc>
              <a:spcBef>
                <a:spcPts val="400"/>
              </a:spcBef>
              <a:spcAft>
                <a:spcPts val="0"/>
              </a:spcAft>
              <a:buSzPts val="1800"/>
              <a:buNone/>
            </a:pPr>
            <a:r>
              <a:rPr lang="en" sz="1100" b="1">
                <a:solidFill>
                  <a:schemeClr val="dk1"/>
                </a:solidFill>
              </a:rPr>
              <a:t>Trap: </a:t>
            </a:r>
            <a:r>
              <a:rPr lang="en" sz="1100">
                <a:solidFill>
                  <a:schemeClr val="dk1"/>
                </a:solidFill>
              </a:rPr>
              <a:t>a boom of reused bottles guides plastic to a bar screen. The current does the herding, and a wide-gapped deflector lets hyacinth mats pass.</a:t>
            </a:r>
          </a:p>
          <a:p>
            <a:pPr indent="0" lvl="0" marL="0" rtl="0" algn="l">
              <a:lnSpc>
                <a:spcPct val="105000"/>
              </a:lnSpc>
              <a:spcBef>
                <a:spcPts val="400"/>
              </a:spcBef>
              <a:spcAft>
                <a:spcPts val="0"/>
              </a:spcAft>
              <a:buSzPts val="1800"/>
              <a:buNone/>
            </a:pPr>
            <a:r>
              <a:rPr lang="en" sz="1100" b="1">
                <a:solidFill>
                  <a:schemeClr val="dk1"/>
                </a:solidFill>
              </a:rPr>
              <a:t>Lift: </a:t>
            </a:r>
            <a:r>
              <a:rPr lang="en" sz="1100">
                <a:solidFill>
                  <a:schemeClr val="dk1"/>
                </a:solidFill>
              </a:rPr>
              <a:t>a camera-triggered arm sweeps debris up a ramp into a bin. A shear pin protects the gearbox, and current and Hall sensors stop jams, with at most three retries.</a:t>
            </a:r>
          </a:p>
          <a:p>
            <a:pPr indent="0" lvl="0" marL="0" rtl="0" algn="l">
              <a:lnSpc>
                <a:spcPct val="105000"/>
              </a:lnSpc>
              <a:spcBef>
                <a:spcPts val="400"/>
              </a:spcBef>
              <a:spcAft>
                <a:spcPts val="0"/>
              </a:spcAft>
              <a:buSzPts val="1800"/>
              <a:buNone/>
            </a:pPr>
            <a:r>
              <a:rPr lang="en" sz="1100" b="1">
                <a:solidFill>
                  <a:schemeClr val="dk1"/>
                </a:solidFill>
              </a:rPr>
              <a:t>Count: </a:t>
            </a:r>
            <a:r>
              <a:rPr lang="en" sz="1100">
                <a:solidFill>
                  <a:schemeClr val="dk1"/>
                </a:solidFill>
              </a:rPr>
              <a:t>an ESP32-S3 camera looks down at the water only, and an INT8 model classifies each item on the chip. Weekly hand counts check it.</a:t>
            </a:r>
          </a:p>
          <a:p>
            <a:pPr indent="0" lvl="0" marL="0" rtl="0" algn="l">
              <a:lnSpc>
                <a:spcPct val="105000"/>
              </a:lnSpc>
              <a:spcBef>
                <a:spcPts val="400"/>
              </a:spcBef>
              <a:spcAft>
                <a:spcPts val="0"/>
              </a:spcAft>
              <a:buSzPts val="1800"/>
              <a:buNone/>
            </a:pPr>
            <a:r>
              <a:rPr lang="en" sz="1100" b="1">
                <a:solidFill>
                  <a:schemeClr val="dk1"/>
                </a:solidFill>
              </a:rPr>
              <a:t>Report: </a:t>
            </a:r>
            <a:r>
              <a:rPr lang="en" sz="1100">
                <a:solidFill>
                  <a:schemeClr val="dk1"/>
                </a:solidFill>
              </a:rPr>
              <a:t>an offline Wi-Fi page gives the barangay a weekly report and an open dataset. </a:t>
            </a:r>
            <a:r>
              <a:rPr lang="en" sz="1100" b="1">
                <a:solidFill>
                  <a:schemeClr val="dk1"/>
                </a:solidFill>
              </a:rPr>
              <a:t>Warn (secondary): </a:t>
            </a:r>
            <a:r>
              <a:rPr lang="en" sz="1100">
                <a:solidFill>
                  <a:schemeClr val="dk1"/>
                </a:solidFill>
              </a:rPr>
              <a:t>an ultrasonic sensor logs the water level and alerts before a blockage.</a:t>
            </a:r>
          </a:p>
          <a:p>
            <a:pPr indent="0" lvl="0" marL="0" rtl="0" algn="l">
              <a:lnSpc>
                <a:spcPct val="105000"/>
              </a:lnSpc>
              <a:spcBef>
                <a:spcPts val="400"/>
              </a:spcBef>
              <a:spcAft>
                <a:spcPts val="0"/>
              </a:spcAft>
              <a:buSzPts val="1800"/>
              <a:buNone/>
            </a:pPr>
            <a:r>
              <a:rPr lang="en" sz="1100" b="1">
                <a:solidFill>
                  <a:schemeClr val="dk1"/>
                </a:solidFill>
              </a:rPr>
              <a:t>STEM: </a:t>
            </a:r>
            <a:r>
              <a:rPr lang="en" sz="1100">
                <a:solidFill>
                  <a:schemeClr val="dk1"/>
                </a:solidFill>
              </a:rPr>
              <a:t>buoyancy and torque, a solar energy budget, precision and recall, and a quantized AI model. Pairing a collector with a counter delivers cleanup and evidence from one cheap chip.</a:t>
            </a:r>
          </a:p>
        </p:txBody>
      </p:sp>
      <p:pic>
        <p:nvPicPr>
          <p:cNvPr id="73" name="Picture 72" descr="fig_dev.png"/>
          <p:cNvPicPr>
            <a:picLocks noChangeAspect="1"/>
          </p:cNvPicPr>
          <p:nvPr/>
        </p:nvPicPr>
        <p:blipFill>
          <a:blip r:embed="rId4"/>
          <a:stretch>
            <a:fillRect/>
          </a:stretch>
        </p:blipFill>
        <p:spPr>
          <a:xfrm>
            <a:off x="5166360" y="914400"/>
            <a:ext cx="3520440" cy="1992569"/>
          </a:xfrm>
          <a:prstGeom prst="rect">
            <a:avLst/>
          </a:prstGeom>
        </p:spPr>
      </p:pic>
      <p:sp>
        <p:nvSpPr>
          <p:cNvPr id="74" name="TextBox 73"/>
          <p:cNvSpPr txBox="1"/>
          <p:nvPr/>
        </p:nvSpPr>
        <p:spPr>
          <a:xfrm>
            <a:off x="5120640" y="3108960"/>
            <a:ext cx="3611880" cy="1737360"/>
          </a:xfrm>
          <a:prstGeom prst="rect">
            <a:avLst/>
          </a:prstGeom>
          <a:noFill/>
        </p:spPr>
        <p:txBody>
          <a:bodyPr wrap="square">
            <a:spAutoFit/>
          </a:bodyPr>
          <a:lstStyle/>
          <a:p>
            <a:pPr indent="0" lvl="0" marL="0" rtl="0" algn="l">
              <a:lnSpc>
                <a:spcPct val="105000"/>
              </a:lnSpc>
              <a:spcBef>
                <a:spcPts val="0"/>
              </a:spcBef>
              <a:spcAft>
                <a:spcPts val="0"/>
              </a:spcAft>
              <a:buSzPts val="1800"/>
              <a:buNone/>
            </a:pPr>
            <a:r>
              <a:rPr lang="en" sz="1100" b="1">
                <a:solidFill>
                  <a:schemeClr val="dk1"/>
                </a:solidFill>
              </a:rPr>
              <a:t>In plain words: </a:t>
            </a:r>
            <a:r>
              <a:rPr lang="en" sz="1100">
                <a:solidFill>
                  <a:schemeClr val="dk1"/>
                </a:solidFill>
              </a:rPr>
              <a:t>the model is the skill of a sanitation worker who can tell a PET bottle from a sachet at a glance, saved as a file of numbers. </a:t>
            </a:r>
            <a:r>
              <a:rPr lang="en" sz="1100" b="1">
                <a:solidFill>
                  <a:schemeClr val="dk1"/>
                </a:solidFill>
              </a:rPr>
              <a:t>Quantization</a:t>
            </a:r>
            <a:r>
              <a:rPr lang="en" sz="1100">
                <a:solidFill>
                  <a:schemeClr val="dk1"/>
                </a:solidFill>
              </a:rPr>
              <a:t> rounds the numbers like a gradebook (87, not 87.3416), so the file fits the chip. No internet is needed.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051560"/>
            <a:ext cx="8061600" cy="3931920"/>
          </a:xfrm>
          <a:prstGeom prst="rect">
            <a:avLst/>
          </a:prstGeom>
          <a:noFill/>
          <a:ln>
            <a:noFill/>
          </a:ln>
        </p:spPr>
        <p:txBody>
          <a:bodyPr anchorCtr="0" anchor="t" bIns="91425" lIns="91425" spcFirstLastPara="1" rIns="91425" wrap="square" tIns="91425">
            <a:noAutofit/>
          </a:bodyPr>
          <a:lstStyle/>
          <a:p>
            <a:pPr indent="-298450" lvl="0" marL="457200" rtl="0" algn="l">
              <a:lnSpc>
                <a:spcPct val="105000"/>
              </a:lnSpc>
              <a:spcBef>
                <a:spcPts val="700"/>
              </a:spcBef>
              <a:spcAft>
                <a:spcPts val="0"/>
              </a:spcAft>
              <a:buClr>
                <a:schemeClr val="dk1"/>
              </a:buClr>
              <a:buSzPts val="1100"/>
              <a:buAutoNum type="arabicPeriod" startAt="6"/>
            </a:pPr>
            <a:r>
              <a:rPr b="1" lang="en" sz="1100">
                <a:solidFill>
                  <a:schemeClr val="dk1"/>
                </a:solidFill>
              </a:rPr>
              <a:t>How do we implement this?</a:t>
            </a:r>
          </a:p>
          <a:p>
            <a:pPr indent="0" lvl="0" marL="0" rtl="0" algn="l">
              <a:lnSpc>
                <a:spcPct val="105000"/>
              </a:lnSpc>
              <a:spcBef>
                <a:spcPts val="400"/>
              </a:spcBef>
              <a:spcAft>
                <a:spcPts val="0"/>
              </a:spcAft>
              <a:buSzPts val="1800"/>
              <a:buNone/>
            </a:pPr>
            <a:r>
              <a:rPr lang="en" sz="1100" b="1">
                <a:solidFill>
                  <a:schemeClr val="dk1"/>
                </a:solidFill>
              </a:rPr>
              <a:t>Resources: </a:t>
            </a:r>
            <a:r>
              <a:rPr lang="en" sz="1100" b="1">
                <a:solidFill>
                  <a:schemeClr val="dk1"/>
                </a:solidFill>
              </a:rPr>
              <a:t>pilot unit about PHP 6,000</a:t>
            </a:r>
            <a:r>
              <a:rPr lang="en" sz="1100">
                <a:solidFill>
                  <a:schemeClr val="dk1"/>
                </a:solidFill>
              </a:rPr>
              <a:t> (ESP32-S3 camera 1,300, microSD 200, box 300, solar panel 600, charger and cells 700, boom and post 800, bin 150, wiring 250, level sensor 350, motor and driver 700, sensing 150, ramp and arm 150, contingency 350), estimates to confirm. Built in stages: bench 1,800, passive trap 2,500, arm and sensor 1,350, each bought after a test passes. Timeline: site visit and baseline by Nov 2, model by Nov 20, results Dec 7, pilot Dec to Feb, build guide by March.</a:t>
            </a:r>
          </a:p>
          <a:p>
            <a:pPr indent="0" lvl="0" marL="0" rtl="0" algn="l">
              <a:lnSpc>
                <a:spcPct val="105000"/>
              </a:lnSpc>
              <a:spcBef>
                <a:spcPts val="400"/>
              </a:spcBef>
              <a:spcAft>
                <a:spcPts val="0"/>
              </a:spcAft>
              <a:buSzPts val="1800"/>
              <a:buNone/>
            </a:pPr>
            <a:r>
              <a:rPr lang="en" sz="1100" b="1">
                <a:solidFill>
                  <a:schemeClr val="dk1"/>
                </a:solidFill>
              </a:rPr>
              <a:t>Stakeholders: </a:t>
            </a:r>
            <a:r>
              <a:rPr lang="en" sz="1100" b="1">
                <a:solidFill>
                  <a:schemeClr val="dk1"/>
                </a:solidFill>
              </a:rPr>
              <a:t>barangay captain and sanitation officers</a:t>
            </a:r>
            <a:r>
              <a:rPr lang="en" sz="1100">
                <a:solidFill>
                  <a:schemeClr val="dk1"/>
                </a:solidFill>
              </a:rPr>
              <a:t> (site approval, weekly emptying, use of reports under a one-page maintenance agreement), </a:t>
            </a:r>
            <a:r>
              <a:rPr lang="en" sz="1100" b="1">
                <a:solidFill>
                  <a:schemeClr val="dk1"/>
                </a:solidFill>
              </a:rPr>
              <a:t>city solid-waste office and DENR</a:t>
            </a:r>
            <a:r>
              <a:rPr lang="en" sz="1100">
                <a:solidFill>
                  <a:schemeClr val="dk1"/>
                </a:solidFill>
              </a:rPr>
              <a:t> (use the data), </a:t>
            </a:r>
            <a:r>
              <a:rPr lang="en" sz="1100" b="1">
                <a:solidFill>
                  <a:schemeClr val="dk1"/>
                </a:solidFill>
              </a:rPr>
              <a:t>adviser and school head</a:t>
            </a:r>
            <a:r>
              <a:rPr lang="en" sz="1100">
                <a:solidFill>
                  <a:schemeClr val="dk1"/>
                </a:solidFill>
              </a:rPr>
              <a:t> (supervision, safety sign-off), </a:t>
            </a:r>
            <a:r>
              <a:rPr lang="en" sz="1100" b="1">
                <a:solidFill>
                  <a:schemeClr val="dk1"/>
                </a:solidFill>
              </a:rPr>
              <a:t>students</a:t>
            </a:r>
            <a:r>
              <a:rPr lang="en" sz="1100">
                <a:solidFill>
                  <a:schemeClr val="dk1"/>
                </a:solidFill>
              </a:rPr>
              <a:t> (build, label, count, report) and </a:t>
            </a:r>
            <a:r>
              <a:rPr lang="en" sz="1100" b="1">
                <a:solidFill>
                  <a:schemeClr val="dk1"/>
                </a:solidFill>
              </a:rPr>
              <a:t>residents</a:t>
            </a:r>
            <a:r>
              <a:rPr lang="en" sz="1100">
                <a:solidFill>
                  <a:schemeClr val="dk1"/>
                </a:solidFill>
              </a:rPr>
              <a:t> (consent, a clear site).</a:t>
            </a:r>
          </a:p>
          <a:p>
            <a:pPr indent="0" lvl="0" marL="0" rtl="0" algn="l">
              <a:lnSpc>
                <a:spcPct val="105000"/>
              </a:lnSpc>
              <a:spcBef>
                <a:spcPts val="400"/>
              </a:spcBef>
              <a:spcAft>
                <a:spcPts val="0"/>
              </a:spcAft>
              <a:buSzPts val="1800"/>
              <a:buNone/>
            </a:pPr>
            <a:r>
              <a:rPr lang="en" sz="1100" b="1">
                <a:solidFill>
                  <a:schemeClr val="dk1"/>
                </a:solidFill>
              </a:rPr>
              <a:t>Risks &amp; Mitigation: </a:t>
            </a:r>
            <a:r>
              <a:rPr lang="en" sz="1100" b="1">
                <a:solidFill>
                  <a:schemeClr val="dk1"/>
                </a:solidFill>
              </a:rPr>
              <a:t>Hyacinth mats</a:t>
            </a:r>
            <a:r>
              <a:rPr lang="en" sz="1100">
                <a:solidFill>
                  <a:schemeClr val="dk1"/>
                </a:solidFill>
              </a:rPr>
              <a:t>: deflector, a vegetation class that stops the arm, daily screen clearing. </a:t>
            </a:r>
            <a:r>
              <a:rPr lang="en" sz="1100" b="1">
                <a:solidFill>
                  <a:schemeClr val="dk1"/>
                </a:solidFill>
              </a:rPr>
              <a:t>Jams and burnout</a:t>
            </a:r>
            <a:r>
              <a:rPr lang="en" sz="1100">
                <a:solidFill>
                  <a:schemeClr val="dk1"/>
                </a:solidFill>
              </a:rPr>
              <a:t>: shear pin, current and Hall sensing, three retries, driver off by default. </a:t>
            </a:r>
            <a:r>
              <a:rPr lang="en" sz="1100" b="1">
                <a:solidFill>
                  <a:schemeClr val="dk1"/>
                </a:solidFill>
              </a:rPr>
              <a:t>Oil and silt</a:t>
            </a:r>
            <a:r>
              <a:rPr lang="en" sz="1100">
                <a:solidFill>
                  <a:schemeClr val="dk1"/>
                </a:solidFill>
              </a:rPr>
              <a:t>: motor mounted high, sealed bearings, hooded lens. </a:t>
            </a:r>
            <a:r>
              <a:rPr lang="en" sz="1100" b="1">
                <a:solidFill>
                  <a:schemeClr val="dk1"/>
                </a:solidFill>
              </a:rPr>
              <a:t>Model errors</a:t>
            </a:r>
            <a:r>
              <a:rPr lang="en" sz="1100">
                <a:solidFill>
                  <a:schemeClr val="dk1"/>
                </a:solidFill>
              </a:rPr>
              <a:t>: test on unseen places, keep the hand count. </a:t>
            </a:r>
            <a:r>
              <a:rPr lang="en" sz="1100" b="1">
                <a:solidFill>
                  <a:schemeClr val="dk1"/>
                </a:solidFill>
              </a:rPr>
              <a:t>Arm fails</a:t>
            </a:r>
            <a:r>
              <a:rPr lang="en" sz="1100">
                <a:solidFill>
                  <a:schemeClr val="dk1"/>
                </a:solidFill>
              </a:rPr>
              <a:t>: boom, bin and camera still work, so the data pilot survives. </a:t>
            </a:r>
            <a:r>
              <a:rPr lang="en" sz="1100" b="1">
                <a:solidFill>
                  <a:schemeClr val="dk1"/>
                </a:solidFill>
              </a:rPr>
              <a:t>Safety and privacy</a:t>
            </a:r>
            <a:r>
              <a:rPr lang="en" sz="1100">
                <a:solidFill>
                  <a:schemeClr val="dk1"/>
                </a:solidFill>
              </a:rPr>
              <a:t>: no student enters the water, guarded arm, camera sees water only. </a:t>
            </a:r>
            <a:r>
              <a:rPr lang="en" sz="1100" b="1">
                <a:solidFill>
                  <a:schemeClr val="dk1"/>
                </a:solidFill>
              </a:rPr>
              <a:t>Storms and theft</a:t>
            </a:r>
            <a:r>
              <a:rPr lang="en" sz="1100">
                <a:solidFill>
                  <a:schemeClr val="dk1"/>
                </a:solidFill>
              </a:rPr>
              <a:t>: quick-release line, electronics retrieved before a typhoon.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051560"/>
            <a:ext cx="8061600" cy="3931920"/>
          </a:xfrm>
          <a:prstGeom prst="rect">
            <a:avLst/>
          </a:prstGeom>
          <a:noFill/>
          <a:ln>
            <a:noFill/>
          </a:ln>
        </p:spPr>
        <p:txBody>
          <a:bodyPr anchorCtr="0" anchor="t" bIns="91425" lIns="91425" spcFirstLastPara="1" rIns="91425" wrap="square" tIns="91425">
            <a:noAutofit/>
          </a:bodyPr>
          <a:lstStyle/>
          <a:p>
            <a:pPr indent="-298450" lvl="0" marL="457200" rtl="0" algn="l">
              <a:lnSpc>
                <a:spcPct val="105000"/>
              </a:lnSpc>
              <a:spcBef>
                <a:spcPts val="7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p>
          <a:p>
            <a:pPr indent="0" lvl="0" marL="0" rtl="0" algn="l">
              <a:lnSpc>
                <a:spcPct val="105000"/>
              </a:lnSpc>
              <a:spcBef>
                <a:spcPts val="400"/>
              </a:spcBef>
              <a:spcAft>
                <a:spcPts val="0"/>
              </a:spcAft>
              <a:buSzPts val="1800"/>
              <a:buNone/>
            </a:pPr>
            <a:r>
              <a:rPr lang="en" sz="1100">
                <a:solidFill>
                  <a:schemeClr val="dk1"/>
                </a:solidFill>
              </a:rPr>
              <a:t>Success means plastic lifted from a real creek and a trustworthy weekly record of what it was. One unit lifts little, so the value lies in a design cheap enough to copy and data open enough to combine.</a:t>
            </a:r>
          </a:p>
          <a:p>
            <a:pPr indent="0" lvl="0" marL="0" rtl="0" algn="l">
              <a:lnSpc>
                <a:spcPct val="105000"/>
              </a:lnSpc>
              <a:spcBef>
                <a:spcPts val="400"/>
              </a:spcBef>
              <a:spcAft>
                <a:spcPts val="0"/>
              </a:spcAft>
              <a:buSzPts val="1800"/>
              <a:buNone/>
            </a:pPr>
            <a:r>
              <a:rPr lang="en" sz="1100" b="1">
                <a:solidFill>
                  <a:schemeClr val="dk1"/>
                </a:solidFill>
              </a:rPr>
              <a:t>Measurable Outcomes: 1. Less plastic: </a:t>
            </a:r>
            <a:r>
              <a:rPr lang="en" sz="1100">
                <a:solidFill>
                  <a:schemeClr val="dk1"/>
                </a:solidFill>
              </a:rPr>
              <a:t>at least [TARGET] kg lifted in 8 weeks, capture rate of at least [X]% against the baseline. </a:t>
            </a:r>
            <a:r>
              <a:rPr lang="en" sz="1100" b="1">
                <a:solidFill>
                  <a:schemeClr val="dk1"/>
                </a:solidFill>
              </a:rPr>
              <a:t>2. Trustworthy counts: </a:t>
            </a:r>
            <a:r>
              <a:rPr lang="en" sz="1100">
                <a:solidFill>
                  <a:schemeClr val="dk1"/>
                </a:solidFill>
              </a:rPr>
              <a:t>weekly error of 15% or less against the hand audit, and 85% precision and recall on unseen places. </a:t>
            </a:r>
            <a:r>
              <a:rPr lang="en" sz="1100" b="1">
                <a:solidFill>
                  <a:schemeClr val="dk1"/>
                </a:solidFill>
              </a:rPr>
              <a:t>3. Replication: </a:t>
            </a:r>
            <a:r>
              <a:rPr lang="en" sz="1100">
                <a:solidFill>
                  <a:schemeClr val="dk1"/>
                </a:solidFill>
              </a:rPr>
              <a:t>2+ more sites by March 2027 at about PHP 6,000 each, sharing one open data format.</a:t>
            </a:r>
          </a:p>
          <a:p>
            <a:pPr indent="0" lvl="0" marL="0" rtl="0" algn="l">
              <a:lnSpc>
                <a:spcPct val="105000"/>
              </a:lnSpc>
              <a:spcBef>
                <a:spcPts val="400"/>
              </a:spcBef>
              <a:spcAft>
                <a:spcPts val="0"/>
              </a:spcAft>
              <a:buSzPts val="1800"/>
              <a:buNone/>
            </a:pPr>
            <a:r>
              <a:rPr lang="en" sz="1100" b="1">
                <a:solidFill>
                  <a:schemeClr val="dk1"/>
                </a:solidFill>
              </a:rPr>
              <a:t>Long-Term Vision: </a:t>
            </a:r>
            <a:r>
              <a:rPr lang="en" sz="1100">
                <a:solidFill>
                  <a:schemeClr val="dk1"/>
                </a:solidFill>
              </a:rPr>
              <a:t>a student-built, barangay-owned network of units along connected creeks, feeding one open dataset that shows where plastic enters, which products dominate and whether EPR commitments change what the water carries. Planned upgrades are a belt conveyor for higher volumes and a second camera angle. Each barangay added makes every unit's data more valuable. The pilot proves the method at one creek and claims no more.</a:t>
            </a:r>
          </a:p>
          <a:p>
            <a:pPr indent="0" lvl="0" marL="0" rtl="0" algn="l">
              <a:lnSpc>
                <a:spcPct val="105000"/>
              </a:lnSpc>
              <a:spcBef>
                <a:spcPts val="400"/>
              </a:spcBef>
              <a:spcAft>
                <a:spcPts val="0"/>
              </a:spcAft>
              <a:buSzPts val="1800"/>
              <a:buNone/>
            </a:pPr>
            <a:r>
              <a:rPr lang="en" sz="1100" b="1">
                <a:solidFill>
                  <a:schemeClr val="dk1"/>
                </a:solidFill>
              </a:rPr>
              <a:t>Key Takeaway: </a:t>
            </a:r>
            <a:r>
              <a:rPr lang="en" sz="1100">
                <a:solidFill>
                  <a:schemeClr val="dk1"/>
                </a:solidFill>
              </a:rPr>
              <a:t>The Philippines already knows who makes much of its plastic. SAGIP makes the proof continuous, cheap and community-owned, and lifts some of the plastic out along the way.</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