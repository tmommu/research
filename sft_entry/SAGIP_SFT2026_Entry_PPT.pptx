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p:regular r:id="rId13"/>
      <p:bold r:id="rId1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5" roundtripDataSignature="AMtx7miqmudvUpm8cB+CHGjTPrvBfpG5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Manrope-regular.fntdata"/><Relationship Id="rId14" Type="http://schemas.openxmlformats.org/officeDocument/2006/relationships/font" Target="fonts/Manrope-bold.fntdata"/><Relationship Id="rId1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 name="Google Shape;6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 name="Google Shape;75;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 name="Shape 9"/>
        <p:cNvGrpSpPr/>
        <p:nvPr/>
      </p:nvGrpSpPr>
      <p:grpSpPr>
        <a:xfrm>
          <a:off x="0" y="0"/>
          <a:ext cx="0" cy="0"/>
          <a:chOff x="0" y="0"/>
          <a:chExt cx="0" cy="0"/>
        </a:xfrm>
      </p:grpSpPr>
      <p:sp>
        <p:nvSpPr>
          <p:cNvPr id="10" name="Google Shape;10;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 name="Google Shape;11;p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2" name="Google Shape;1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1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5" name="Google Shape;15;p10"/>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1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1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1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1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5"/>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6"/>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6"/>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6"/>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7"/>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8"/>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8"/>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
          <p:cNvSpPr txBox="1"/>
          <p:nvPr>
            <p:ph idx="1" type="body"/>
          </p:nvPr>
        </p:nvSpPr>
        <p:spPr>
          <a:xfrm>
            <a:off x="901950" y="2379813"/>
            <a:ext cx="7340100" cy="1516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b="1" lang="en" sz="1100">
                <a:solidFill>
                  <a:srgbClr val="000000"/>
                </a:solidFill>
              </a:rPr>
              <a:t>Team Members:</a:t>
            </a:r>
            <a:endParaRPr b="1" sz="1100">
              <a:solidFill>
                <a:srgbClr val="000000"/>
              </a:solidFill>
            </a:endParaRPr>
          </a:p>
          <a:p>
            <a:pPr indent="-298450" lvl="0" marL="457200" rtl="0" algn="l">
              <a:lnSpc>
                <a:spcPct val="115000"/>
              </a:lnSpc>
              <a:spcBef>
                <a:spcPts val="0"/>
              </a:spcBef>
              <a:spcAft>
                <a:spcPts val="0"/>
              </a:spcAft>
              <a:buClr>
                <a:srgbClr val="000000"/>
              </a:buClr>
              <a:buSzPts val="1100"/>
              <a:buChar char="●"/>
            </a:pPr>
            <a:r>
              <a:rPr lang="en" sz="1100">
                <a:solidFill>
                  <a:srgbClr val="000000"/>
                </a:solidFill>
              </a:rPr>
              <a:t>Aaron Jed E. Campo, Grade 10</a:t>
            </a:r>
            <a:endParaRPr sz="1100">
              <a:solidFill>
                <a:schemeClr val="accent3"/>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Raya Kalayaan R. Amparo,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Ayeza Leigh F. Delos Santos,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Sophia Laureen A. Tado, Grade 10</a:t>
            </a:r>
            <a:endParaRPr sz="1100">
              <a:solidFill>
                <a:schemeClr val="dk1"/>
              </a:solidFill>
            </a:endParaRPr>
          </a:p>
          <a:p>
            <a:pPr indent="0" lvl="0" marL="0" rtl="0" algn="l">
              <a:lnSpc>
                <a:spcPct val="115000"/>
              </a:lnSpc>
              <a:spcBef>
                <a:spcPts val="0"/>
              </a:spcBef>
              <a:spcAft>
                <a:spcPts val="0"/>
              </a:spcAft>
              <a:buSzPts val="1800"/>
              <a:buNone/>
            </a:pPr>
            <a:r>
              <a:t/>
            </a:r>
            <a:endParaRPr sz="1100">
              <a:solidFill>
                <a:schemeClr val="dk1"/>
              </a:solidFill>
            </a:endParaRPr>
          </a:p>
          <a:p>
            <a:pPr indent="0" lvl="0" marL="0" rtl="0" algn="l">
              <a:lnSpc>
                <a:spcPct val="115000"/>
              </a:lnSpc>
              <a:spcBef>
                <a:spcPts val="0"/>
              </a:spcBef>
              <a:spcAft>
                <a:spcPts val="0"/>
              </a:spcAft>
              <a:buSzPts val="1800"/>
              <a:buNone/>
            </a:pPr>
            <a:r>
              <a:rPr b="1" lang="en" sz="1100">
                <a:solidFill>
                  <a:schemeClr val="dk1"/>
                </a:solidFill>
              </a:rPr>
              <a:t>Adviser:</a:t>
            </a:r>
            <a:r>
              <a:rPr lang="en" sz="1100">
                <a:solidFill>
                  <a:schemeClr val="dk1"/>
                </a:solidFill>
              </a:rPr>
              <a:t> Skjoukje U. Jemoya</a:t>
            </a:r>
            <a:endParaRPr sz="1100">
              <a:solidFill>
                <a:schemeClr val="dk1"/>
              </a:solidFill>
            </a:endParaRPr>
          </a:p>
          <a:p>
            <a:pPr indent="0" lvl="0" marL="0" rtl="0" algn="l">
              <a:lnSpc>
                <a:spcPct val="115000"/>
              </a:lnSpc>
              <a:spcBef>
                <a:spcPts val="1200"/>
              </a:spcBef>
              <a:spcAft>
                <a:spcPts val="1200"/>
              </a:spcAft>
              <a:buSzPts val="1800"/>
              <a:buNone/>
            </a:pPr>
            <a:r>
              <a:t/>
            </a:r>
            <a:endParaRPr sz="1100">
              <a:solidFill>
                <a:srgbClr val="000000"/>
              </a:solidFill>
            </a:endParaRPr>
          </a:p>
        </p:txBody>
      </p:sp>
      <p:sp>
        <p:nvSpPr>
          <p:cNvPr id="55" name="Google Shape;55;p1"/>
          <p:cNvSpPr txBox="1"/>
          <p:nvPr>
            <p:ph type="title"/>
          </p:nvPr>
        </p:nvSpPr>
        <p:spPr>
          <a:xfrm>
            <a:off x="1436700" y="427397"/>
            <a:ext cx="62706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b="1" lang="en" sz="2600"/>
              <a:t>SAGIP: Solar-Powered Estero Guardian with On-Chip AI</a:t>
            </a:r>
            <a:endParaRPr b="1" sz="2600"/>
          </a:p>
          <a:p>
            <a:pPr indent="0" lvl="0" marL="0" rtl="0" algn="ctr">
              <a:lnSpc>
                <a:spcPct val="100000"/>
              </a:lnSpc>
              <a:spcBef>
                <a:spcPts val="0"/>
              </a:spcBef>
              <a:spcAft>
                <a:spcPts val="0"/>
              </a:spcAft>
              <a:buSzPts val="2800"/>
              <a:buNone/>
            </a:pPr>
            <a:r>
              <a:rPr lang="en" sz="1100"/>
              <a:t>Quezon City Science High School</a:t>
            </a:r>
            <a:endParaRPr sz="1100"/>
          </a:p>
        </p:txBody>
      </p:sp>
      <p:sp>
        <p:nvSpPr>
          <p:cNvPr id="56" name="Google Shape;56;p1"/>
          <p:cNvSpPr txBox="1"/>
          <p:nvPr>
            <p:ph idx="1" type="body"/>
          </p:nvPr>
        </p:nvSpPr>
        <p:spPr>
          <a:xfrm>
            <a:off x="1895550" y="1359867"/>
            <a:ext cx="5488800" cy="920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800"/>
              <a:buNone/>
            </a:pPr>
            <a:r>
              <a:rPr b="1" lang="en" sz="1100">
                <a:solidFill>
                  <a:srgbClr val="000000"/>
                </a:solidFill>
              </a:rPr>
              <a:t>Chosen Theme: </a:t>
            </a:r>
            <a:endParaRPr sz="1100">
              <a:solidFill>
                <a:schemeClr val="accent3"/>
              </a:solidFill>
            </a:endParaRPr>
          </a:p>
          <a:p>
            <a:pPr indent="0" lvl="0" marL="0" rtl="0" algn="l">
              <a:lnSpc>
                <a:spcPct val="100000"/>
              </a:lnSpc>
              <a:spcBef>
                <a:spcPts val="0"/>
              </a:spcBef>
              <a:spcAft>
                <a:spcPts val="0"/>
              </a:spcAft>
              <a:buSzPts val="1800"/>
              <a:buNone/>
            </a:pPr>
            <a:r>
              <a:rPr lang="en" sz="1100">
                <a:solidFill>
                  <a:srgbClr val="000000"/>
                </a:solidFill>
              </a:rPr>
              <a:t>- Environmental Sustainability through Technology</a:t>
            </a:r>
            <a:endParaRPr sz="1100">
              <a:solidFill>
                <a:srgbClr val="000000"/>
              </a:solidFill>
            </a:endParaRPr>
          </a:p>
          <a:p>
            <a:pPr indent="0" lvl="0" marL="0" rtl="0" algn="l">
              <a:lnSpc>
                <a:spcPct val="100000"/>
              </a:lnSpc>
              <a:spcBef>
                <a:spcPts val="0"/>
              </a:spcBef>
              <a:spcAft>
                <a:spcPts val="0"/>
              </a:spcAft>
              <a:buSzPts val="1800"/>
              <a:buNone/>
            </a:pPr>
            <a:r>
              <a:t/>
            </a:r>
            <a:endParaRPr sz="1100">
              <a:solidFill>
                <a:srgbClr val="000000"/>
              </a:solidFill>
            </a:endParaRPr>
          </a:p>
        </p:txBody>
      </p:sp>
      <p:sp>
        <p:nvSpPr>
          <p:cNvPr id="57" name="Google Shape;57;p1"/>
          <p:cNvSpPr txBox="1"/>
          <p:nvPr>
            <p:ph idx="1" type="body"/>
          </p:nvPr>
        </p:nvSpPr>
        <p:spPr>
          <a:xfrm>
            <a:off x="763800" y="3996175"/>
            <a:ext cx="7616400" cy="769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1200"/>
              </a:spcBef>
              <a:spcAft>
                <a:spcPts val="1200"/>
              </a:spcAft>
              <a:buSzPts val="1800"/>
              <a:buNone/>
            </a:pPr>
            <a:r>
              <a:rPr lang="en" sz="1100">
                <a:solidFill>
                  <a:schemeClr val="dk1"/>
                </a:solidFill>
              </a:rPr>
              <a:t>SAGIP is a low-cost, solar-powered unit that filters floating plastic out of a creek, lifts it into a sorted bin and names each item with a small on-chip image model. Barangay officials get a weekly offline report of what the creek carried, plus a secondary water-level alert for blockages. Built for about PHP 6,000 from local parts, it adds anonymized records to an open dataset that other barangays can copy.</a:t>
            </a:r>
            <a:endParaRPr i="1" sz="1100">
              <a:solidFill>
                <a:schemeClr val="accent3"/>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1" name="Shape 61"/>
        <p:cNvGrpSpPr/>
        <p:nvPr/>
      </p:nvGrpSpPr>
      <p:grpSpPr>
        <a:xfrm>
          <a:off x="0" y="0"/>
          <a:ext cx="0" cy="0"/>
          <a:chOff x="0" y="0"/>
          <a:chExt cx="0" cy="0"/>
        </a:xfrm>
      </p:grpSpPr>
      <p:sp>
        <p:nvSpPr>
          <p:cNvPr id="62" name="Google Shape;62;p2"/>
          <p:cNvSpPr txBox="1"/>
          <p:nvPr>
            <p:ph idx="1" type="body"/>
          </p:nvPr>
        </p:nvSpPr>
        <p:spPr>
          <a:xfrm>
            <a:off x="541200" y="781650"/>
            <a:ext cx="8061600" cy="35802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problem are we trying to solve? </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Philippine rivers rank among the largest sources of ocean plastic (Jambeck et al., 2015, Lebreton et al., 2017, Meijer et al., 2021). Cleanups weigh bulk waste and record nothing about it. Brand audits are periodic and mostly land-based (Break Free From Plastic, 2019), and RA 11898 needs proof of which packaging reaches waterways. The gap is a continuous, low-cost record taken at the creek itself.</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do we want to achieve?</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Goal: </a:t>
            </a:r>
            <a:r>
              <a:rPr lang="en" sz="1100">
                <a:solidFill>
                  <a:schemeClr val="dk1"/>
                </a:solidFill>
              </a:rPr>
              <a:t>make creek plastic measurable evidence instead of invisible waste, with cleaner creeks and community-owned data.</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Objectives</a:t>
            </a:r>
            <a:r>
              <a:rPr lang="en" sz="1100">
                <a:solidFill>
                  <a:schemeClr val="dk1"/>
                </a:solidFill>
              </a:rPr>
              <a:t>: (1) In an 8-week pilot from December 2026, capture at least 50% of the floating debris that reaches the boom, lift at least 20 kg and log at least 1,000 classified items. (2) By November 20, reach 85% precision and recall on unseen photos, with weekly counts within 15% of a hand audit. (3) By March 2027, publish an open dataset and build guide and help 2 more barangays or schools build a PHP 6,000 unit.</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startAt="3"/>
            </a:pPr>
            <a:r>
              <a:rPr b="1" lang="en" sz="1100">
                <a:solidFill>
                  <a:schemeClr val="dk1"/>
                </a:solidFill>
              </a:rPr>
              <a:t>Who will benefit from this project?</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Primary: </a:t>
            </a:r>
            <a:r>
              <a:rPr lang="en" sz="1100">
                <a:solidFill>
                  <a:schemeClr val="dk1"/>
                </a:solidFill>
              </a:rPr>
              <a:t>the [N] households of [barangay and purok] along [estero site] in Quezon City and the barangay sanitation officers. </a:t>
            </a:r>
            <a:r>
              <a:rPr b="1" lang="en" sz="1100">
                <a:solidFill>
                  <a:schemeClr val="dk1"/>
                </a:solidFill>
              </a:rPr>
              <a:t>Secondary: </a:t>
            </a:r>
            <a:r>
              <a:rPr lang="en" sz="1100">
                <a:solidFill>
                  <a:schemeClr val="dk1"/>
                </a:solidFill>
              </a:rPr>
              <a:t>the city solid-waste office and DENR, 2 more barangays or schools, and downstream fisherfolk.</a:t>
            </a:r>
            <a:endParaRPr sz="11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6" name="Shape 66"/>
        <p:cNvGrpSpPr/>
        <p:nvPr/>
      </p:nvGrpSpPr>
      <p:grpSpPr>
        <a:xfrm>
          <a:off x="0" y="0"/>
          <a:ext cx="0" cy="0"/>
          <a:chOff x="0" y="0"/>
          <a:chExt cx="0" cy="0"/>
        </a:xfrm>
      </p:grpSpPr>
      <p:sp>
        <p:nvSpPr>
          <p:cNvPr id="67" name="Google Shape;67;p3"/>
          <p:cNvSpPr txBox="1"/>
          <p:nvPr>
            <p:ph idx="1" type="body"/>
          </p:nvPr>
        </p:nvSpPr>
        <p:spPr>
          <a:xfrm>
            <a:off x="541200" y="1902750"/>
            <a:ext cx="8061600" cy="13380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4"/>
            </a:pPr>
            <a:r>
              <a:rPr b="1" lang="en" sz="1100">
                <a:solidFill>
                  <a:schemeClr val="dk1"/>
                </a:solidFill>
              </a:rPr>
              <a:t>How did we come up with this proposal?</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Select. </a:t>
            </a:r>
            <a:r>
              <a:rPr lang="en" sz="1100">
                <a:solidFill>
                  <a:schemeClr val="dk1"/>
                </a:solidFill>
              </a:rPr>
              <a:t>We scored five community problems on significance, feasibility, STEM depth, replicability and originality. Creek plastic won, and we fitted the design to PHP 6,000. [Edit to match your process.]</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What exists. </a:t>
            </a:r>
            <a:r>
              <a:rPr lang="en" sz="1100">
                <a:solidFill>
                  <a:schemeClr val="dk1"/>
                </a:solidFill>
              </a:rPr>
              <a:t>Cameras count floating plastic but remove nothing (van Lieshout et al., 2020). Solar Interceptor barriers and AI boats are planned or piloted on large Pasig-area rivers (The Ocean Cleanup, 2026, Manila Bulletin, 2025). Trash traps remove plastic in bulk and record only weight (Philstar, 2022). Brand audits name companies but are manual (Break Free From Plastic, 2019).</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Gap we test. </a:t>
            </a:r>
            <a:r>
              <a:rPr lang="en" sz="1100">
                <a:solidFill>
                  <a:schemeClr val="dk1"/>
                </a:solidFill>
              </a:rPr>
              <a:t>No system we found lifts, counts and shares open data at barangay cost. Can a PHP 6,000 on-chip counter match a hand audit within 15%, and does continuous counting show rain-driven pulses of plastic (Cordova &amp; Nurhati, 2019) that weekly audits miss?</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Sources: </a:t>
            </a:r>
            <a:r>
              <a:rPr lang="en" sz="1100">
                <a:solidFill>
                  <a:schemeClr val="dk1"/>
                </a:solidFill>
              </a:rPr>
              <a:t>Break Free From Plastic 2019, Cordova &amp; Nurhati 2019, David et al. 2021, Jacob et al. 2018, Jambeck et al. 2015, Lebreton et al. 2017, Manila Bulletin 2025, Meijer et al. 2021, Philstar 2022, RA 11898, The Ocean Cleanup 2026, van Lieshout et al. 2020.</a:t>
            </a:r>
            <a:endParaRPr b="1" sz="11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Google Shape;72;p4"/>
          <p:cNvSpPr txBox="1"/>
          <p:nvPr>
            <p:ph idx="1" type="body"/>
          </p:nvPr>
        </p:nvSpPr>
        <p:spPr>
          <a:xfrm>
            <a:off x="541200" y="1928100"/>
            <a:ext cx="8061600" cy="12873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5"/>
            </a:pPr>
            <a:r>
              <a:rPr b="1" lang="en" sz="1100">
                <a:solidFill>
                  <a:schemeClr val="dk1"/>
                </a:solidFill>
              </a:rPr>
              <a:t>How will this tech solution work?</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Summary. </a:t>
            </a:r>
            <a:r>
              <a:rPr lang="en" sz="1100">
                <a:solidFill>
                  <a:schemeClr val="dk1"/>
                </a:solidFill>
              </a:rPr>
              <a:t>A floating boom and hyacinth deflector guide plastic to coarse bars and a fine mesh basket. A rake arm lifts it up a ramp, a hooded camera runs a small 2D CNN on the chip (Jacob et al., 2018, David et al., 2021), and a servo gate drops plastic into Bin A and plants or unsure items into Bin B. An offline Wi-Fi page gives a weekly report and an open dataset, and an ultrasonic sensor warns of rising water.</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STEM. </a:t>
            </a:r>
            <a:r>
              <a:rPr lang="en" sz="1100">
                <a:solidFill>
                  <a:schemeClr val="dk1"/>
                </a:solidFill>
              </a:rPr>
              <a:t>Physics sets buoyancy, torque and the solar budget. Mathematics defines precision, recall and count error. Computer science supplies the quantized CNN. The motor slows under load, and a shear pin, current sensing and three retries stop jams.</a:t>
            </a:r>
            <a:endParaRPr b="1"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message. </a:t>
            </a:r>
            <a:r>
              <a:rPr lang="en" sz="1100">
                <a:solidFill>
                  <a:schemeClr val="dk1"/>
                </a:solidFill>
              </a:rPr>
              <a:t>Proof of what plastic reaches a creek can be continuous, cheap and community-owned, and one chip delivers cleanup and evidence together.</a:t>
            </a:r>
            <a:endParaRPr b="1" sz="11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Google Shape;77;p5"/>
          <p:cNvSpPr txBox="1"/>
          <p:nvPr>
            <p:ph idx="1" type="body"/>
          </p:nvPr>
        </p:nvSpPr>
        <p:spPr>
          <a:xfrm>
            <a:off x="541200" y="1284450"/>
            <a:ext cx="8061600" cy="25746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6"/>
            </a:pPr>
            <a:r>
              <a:rPr b="1" lang="en" sz="1100">
                <a:solidFill>
                  <a:schemeClr val="dk1"/>
                </a:solidFill>
              </a:rPr>
              <a:t>How do we implement this?</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A pilot unit costs about PHP 6,000, built in three stages that are each bought only after the previous test passes.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Resources:</a:t>
            </a:r>
            <a:r>
              <a:rPr lang="en" sz="1100">
                <a:solidFill>
                  <a:schemeClr val="dk1"/>
                </a:solidFill>
              </a:rPr>
              <a:t> ESP32-S3 camera, microSD, clock and enclosure 1,850, solar panel, charger and cells 1,200, boom, post, bins and wiring 1,100, level sensor 350, motor, driver, sensing and servo 1,000, ramp, arm and filters 350, contingency 150. Stages: bench 1,850, passive trap 2,650, arm and sorter 1,350. Timeline: model by Nov 20, results Dec 7, pilot Dec to Feb, guide by March.</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Stakeholders:</a:t>
            </a:r>
            <a:r>
              <a:rPr lang="en" sz="1100">
                <a:solidFill>
                  <a:schemeClr val="dk1"/>
                </a:solidFill>
              </a:rPr>
              <a:t> barangay captain and sanitation officers (site approval, weekly emptying, one-page agreement), city solid-waste office and DENR (use the data), adviser and school head (supervision, safety), and residents (consent).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Risks &amp; Mitigation:</a:t>
            </a:r>
            <a:r>
              <a:rPr lang="en" sz="1100">
                <a:solidFill>
                  <a:schemeClr val="dk1"/>
                </a:solidFill>
              </a:rPr>
              <a:t> Manual labor: weekly emptying, screen clearing and lens wiping, logged in hours. Hyacinth: deflector and a plant class. Jams: shear pin, current sensing, three retries. Water level: hinged floating ramp foot. Model errors: unsure items go to Bin B and a hand count checks. Safety and privacy: no one enters the water and the camera sees water only.</a:t>
            </a:r>
            <a:endParaRPr sz="11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1" name="Shape 81"/>
        <p:cNvGrpSpPr/>
        <p:nvPr/>
      </p:nvGrpSpPr>
      <p:grpSpPr>
        <a:xfrm>
          <a:off x="0" y="0"/>
          <a:ext cx="0" cy="0"/>
          <a:chOff x="0" y="0"/>
          <a:chExt cx="0" cy="0"/>
        </a:xfrm>
      </p:grpSpPr>
      <p:sp>
        <p:nvSpPr>
          <p:cNvPr id="82" name="Google Shape;82;p6"/>
          <p:cNvSpPr txBox="1"/>
          <p:nvPr>
            <p:ph idx="1" type="body"/>
          </p:nvPr>
        </p:nvSpPr>
        <p:spPr>
          <a:xfrm>
            <a:off x="541200" y="1284450"/>
            <a:ext cx="8061600" cy="33591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7"/>
            </a:pPr>
            <a:r>
              <a:rPr b="1" lang="en" sz="1100">
                <a:solidFill>
                  <a:schemeClr val="dk1"/>
                </a:solidFill>
              </a:rPr>
              <a:t>What kind of impact do we hope to achieve and what is the long term vision for this proposal?</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Success means plastic lifted from a real creek and a trustworthy weekly record of what it was.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Measurable Outcomes:</a:t>
            </a:r>
            <a:r>
              <a:rPr lang="en" sz="1100">
                <a:solidFill>
                  <a:schemeClr val="dk1"/>
                </a:solidFill>
              </a:rPr>
              <a:t> (1) At least 50% capture against a baseline week and 20 kg lifted in 8 weeks. (2) At least 1,000 classified items, weekly counts within 15% of the hand audit and 85% precision and recall on unseen places. (3) At least 2 more sites by March 2027 at about PHP 6,000 each, with weekly labor hours reported.</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Long-Term Vision:</a:t>
            </a:r>
            <a:r>
              <a:rPr lang="en" sz="1100">
                <a:solidFill>
                  <a:schemeClr val="dk1"/>
                </a:solidFill>
              </a:rPr>
              <a:t> a student-built, barangay-owned network of units along connected creeks, feeding one open dataset that shows where plastic enters, which products dominate and whether EPR commitments change what the water carries. Planned upgrades are a belt conveyor and a second camera angle.</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Takeaway:</a:t>
            </a:r>
            <a:r>
              <a:rPr lang="en" sz="1100">
                <a:solidFill>
                  <a:schemeClr val="dk1"/>
                </a:solidFill>
              </a:rPr>
              <a:t> the Philippines already knows who makes much of its plastic. SAGIP makes the proof continuous, cheap and community-owned, and lifts some of the plastic out along the way.</a:t>
            </a:r>
            <a:endParaRPr sz="11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