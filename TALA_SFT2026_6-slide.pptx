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b77bd86d-d019-c47b-d92c-633cf2110222}">
          <p14:sldIdLst>
            <p14:sldId id="256"/>
          </p14:sldIdLst>
        </p14:section>
        <p14:section name="Case" id="{bed6255c-4294-01e6-925c-27acc52ffe1d}">
          <p14:sldIdLst>
            <p14:sldId id="257"/>
            <p14:sldId id="258"/>
            <p14:sldId id="259"/>
          </p14:sldIdLst>
        </p14:section>
        <p14:section name="Delivery" id="{79ad98d3-5b67-5c17-99fc-4b39296af0f5}">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3B40"/>
                </a:solidFill>
                <a:latin typeface="+mn-lt"/>
              </a:defRPr>
            </a:pPr>
            <a:r>
              <a:rPr sz="1200" b="0" i="0" u="none" strike="noStrike">
                <a:solidFill>
                  <a:srgbClr val="0E3B40"/>
                </a:solidFill>
                <a:latin typeface="+mn-lt"/>
              </a:rPr>
              <a:t>Budget by stage (PHP, estimates)</a:t>
            </a:r>
          </a:p>
        </c:rich>
      </c:tx>
      <c:layout/>
      <c:overlay val="0"/>
    </c:title>
    <c:autoTitleDeleted val="0"/>
    <c:plotArea>
      <c:layout/>
      <c:barChart>
        <c:barDir val="bar"/>
        <c:grouping val="clustered"/>
        <c:varyColors val="0"/>
        <c:ser>
          <c:idx val="0"/>
          <c:order val="0"/>
          <c:tx>
            <c:strRef>
              <c:f>Sheet1!$B$1</c:f>
              <c:strCache>
                <c:ptCount val="1"/>
                <c:pt idx="0">
                  <c:v>PHP</c:v>
                </c:pt>
              </c:strCache>
            </c:strRef>
          </c:tx>
          <c:spPr>
            <a:solidFill>
              <a:srgbClr val="0B7A75"/>
            </a:solidFill>
            <a:effectLst/>
          </c:spPr>
          <c:invertIfNegative val="0"/>
          <c:dLbls>
            <c:numFmt formatCode="#,##0" sourceLinked="0"/>
            <c:txPr>
              <a:bodyPr/>
              <a:lstStyle/>
              <a:p>
                <a:pPr>
                  <a:defRPr b="0" i="0" strike="noStrike" sz="1100" u="none">
                    <a:solidFill>
                      <a:srgbClr val="10272B"/>
                    </a:solidFill>
                    <a:latin typeface="+mn-lt"/>
                  </a:defRPr>
                </a:pPr>
              </a:p>
            </c:txPr>
            <c:showLegendKey val="0"/>
            <c:showVal val="1"/>
            <c:showCatName val="0"/>
            <c:showSerName val="0"/>
            <c:showPercent val="0"/>
            <c:showBubbleSize val="0"/>
            <c:showLeaderLines val="0"/>
          </c:dLbls>
          <c:cat>
            <c:multiLvlStrRef>
              <c:f>Sheet1!$A$2:$A$5</c:f>
              <c:multiLvlStrCache>
                <c:ptCount val="4"/>
                <c:lvl>
                  <c:pt idx="0">
                    <c:v>Bench</c:v>
                  </c:pt>
                  <c:pt idx="1">
                    <c:v>Passive trap</c:v>
                  </c:pt>
                  <c:pt idx="2">
                    <c:v>Arm and sensor</c:v>
                  </c:pt>
                  <c:pt idx="3">
                    <c:v>Contingency</c:v>
                  </c:pt>
                </c:lvl>
              </c:multiLvlStrCache>
            </c:multiLvlStrRef>
          </c:cat>
          <c:val>
            <c:numRef>
              <c:f>Sheet1!$B$2:$B$5</c:f>
              <c:numCache>
                <c:formatCode>General</c:formatCode>
                <c:ptCount val="4"/>
                <c:pt idx="0">
                  <c:v>1800</c:v>
                </c:pt>
                <c:pt idx="1">
                  <c:v>2500</c:v>
                </c:pt>
                <c:pt idx="2">
                  <c:v>1350</c:v>
                </c:pt>
                <c:pt idx="3">
                  <c:v>350</c:v>
                </c:pt>
              </c:numCache>
            </c:numRef>
          </c:val>
        </c:ser>
        <c:dLbls>
          <c:numFmt formatCode="#,##0" sourceLinked="0"/>
          <c:txPr>
            <a:bodyPr/>
            <a:lstStyle/>
            <a:p>
              <a:pPr>
                <a:defRPr b="0" i="0" strike="noStrike" sz="1100" u="none">
                  <a:solidFill>
                    <a:srgbClr val="1027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0272B"/>
                </a:solidFill>
                <a:latin typeface="+mn-lt"/>
              </a:defRPr>
            </a:pPr>
            <a:endParaRPr lang="en-US"/>
          </a:p>
        </c:txPr>
        <c:crossAx val="2094734552"/>
        <c:crosses val="autoZero"/>
        <c:auto val="1"/>
        <c:lblAlgn val="ctr"/>
        <c:noMultiLvlLbl val="1"/>
      </c:catAx>
      <c:valAx>
        <c:axId val="2094734552"/>
        <c:scaling>
          <c:orientation val="minMax"/>
          <c:max val="32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pitch in one sentence: TALA removes floating plastic from a creek and counts every item with a camera, giving the barangay the evidence the law needs to hold packaging makers accountable. Name the team and adviser, then move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Plastic reaches the sea through creeks and esteros. Cleanups record bulk weight only. RA 11898 makes producers responsible for packaging, which needs item-level proof that barangays cannot currently produce. Flooding from blocked channels is a secondary hazard on the same creek. [VERIFY the Meijer et al. 2021 ranking and the RA 11898 scope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drawing left to right. The boom herds floating plastic to the bank. The camera counts each item and also triggers the arm, so one inexpensive chip yields evidence and saves energy. Everything electrical sits high on the post. Flood warning is a secondary feature: an ultrasonic sensor reads the water level against a painted gauge.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components is new. Van Lieshout et al. (2020) count floating plastic from bridge cameras but remove nothing. HydroSentinel (2026) is a moving boat. Trash traps remove plastic but record weight only. Brand audits name companies but are periodic and manual. TALA is the continuous, community-owned, low-cost counterpart. Our search was limited, and we say so. [Confirm each citation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is bought only after the previous gate passes, so a failed model or a rejected site does not strand money. Stage 3 begins with a wet bench rig using real hyacinth, estero silt and a little cooking oil. Prices are estimates to confirm locally. The barangay signs a maintenance agreement naming who empties the bin weekly. [Fill in the barangay and estero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plain about the limits. One unit lifts a small mass of plastic. The significance lies in a design cheap enough to copy and data open enough to combine. Until a second barangay builds a unit, the wider reach is a plan, not a result. The pilot proves the method at one creek.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B4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4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rtlCol="0"/>
          <a:lstStyle>
            <a:lvl1pPr algn="l" indent="0" marL="0">
              <a:buNone/>
              <a:defRPr lang="en-US" sz="3200" b="1" dirty="0">
                <a:solidFill>
                  <a:srgbClr val="0E3B4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pple 1"/>
          <p:cNvSpPr/>
          <p:nvPr/>
        </p:nvSpPr>
        <p:spPr>
          <a:xfrm>
            <a:off x="5669280" y="914400"/>
            <a:ext cx="3291840" cy="3291840"/>
          </a:xfrm>
          <a:prstGeom prst="ellipse">
            <a:avLst/>
          </a:prstGeom>
          <a:ln w="19050">
            <a:solidFill>
              <a:schemeClr val="accent1">
                <a:alpha val="70000"/>
              </a:schemeClr>
            </a:solidFill>
            <a:prstDash val="solid"/>
          </a:ln>
        </p:spPr>
      </p:sp>
      <p:sp>
        <p:nvSpPr>
          <p:cNvPr id="3" name="Ripple 2"/>
          <p:cNvSpPr/>
          <p:nvPr/>
        </p:nvSpPr>
        <p:spPr>
          <a:xfrm>
            <a:off x="6080760" y="1325880"/>
            <a:ext cx="2468880" cy="2468880"/>
          </a:xfrm>
          <a:prstGeom prst="ellipse">
            <a:avLst/>
          </a:prstGeom>
          <a:ln w="19050">
            <a:solidFill>
              <a:schemeClr val="accent1">
                <a:alpha val="55000"/>
              </a:schemeClr>
            </a:solidFill>
            <a:prstDash val="solid"/>
          </a:ln>
        </p:spPr>
      </p:sp>
      <p:sp>
        <p:nvSpPr>
          <p:cNvPr id="4" name="Ripple 3"/>
          <p:cNvSpPr/>
          <p:nvPr/>
        </p:nvSpPr>
        <p:spPr>
          <a:xfrm>
            <a:off x="6492240" y="1737360"/>
            <a:ext cx="1645920" cy="1645920"/>
          </a:xfrm>
          <a:prstGeom prst="ellipse">
            <a:avLst/>
          </a:prstGeom>
          <a:ln w="19050">
            <a:solidFill>
              <a:schemeClr val="accent1">
                <a:alpha val="40000"/>
              </a:schemeClr>
            </a:solidFill>
            <a:prstDash val="solid"/>
          </a:ln>
        </p:spPr>
      </p:sp>
      <p:sp>
        <p:nvSpPr>
          <p:cNvPr id="5" name="Plastic dot 1"/>
          <p:cNvSpPr/>
          <p:nvPr/>
        </p:nvSpPr>
        <p:spPr>
          <a:xfrm>
            <a:off x="6858000" y="2194560"/>
            <a:ext cx="182880" cy="182880"/>
          </a:xfrm>
          <a:prstGeom prst="ellipse">
            <a:avLst/>
          </a:prstGeom>
          <a:solidFill>
            <a:schemeClr val="accent2"/>
          </a:solidFill>
          <a:ln w="12700">
            <a:solidFill>
              <a:schemeClr val="accent2"/>
            </a:solidFill>
            <a:prstDash val="solid"/>
          </a:ln>
        </p:spPr>
      </p:sp>
      <p:sp>
        <p:nvSpPr>
          <p:cNvPr id="6" name="Plastic dot 2"/>
          <p:cNvSpPr/>
          <p:nvPr/>
        </p:nvSpPr>
        <p:spPr>
          <a:xfrm>
            <a:off x="7589520" y="2926080"/>
            <a:ext cx="182880" cy="182880"/>
          </a:xfrm>
          <a:prstGeom prst="ellipse">
            <a:avLst/>
          </a:prstGeom>
          <a:solidFill>
            <a:schemeClr val="accent2"/>
          </a:solidFill>
          <a:ln w="12700">
            <a:solidFill>
              <a:schemeClr val="accent2"/>
            </a:solidFill>
            <a:prstDash val="solid"/>
          </a:ln>
        </p:spPr>
      </p:sp>
      <p:sp>
        <p:nvSpPr>
          <p:cNvPr id="7" name="Plastic dot 3"/>
          <p:cNvSpPr/>
          <p:nvPr/>
        </p:nvSpPr>
        <p:spPr>
          <a:xfrm>
            <a:off x="7818120" y="1920240"/>
            <a:ext cx="182880" cy="182880"/>
          </a:xfrm>
          <a:prstGeom prst="ellipse">
            <a:avLst/>
          </a:prstGeom>
          <a:solidFill>
            <a:schemeClr val="accent2"/>
          </a:solidFill>
          <a:ln w="12700">
            <a:solidFill>
              <a:schemeClr val="accent2"/>
            </a:solidFill>
            <a:prstDash val="solid"/>
          </a:ln>
        </p:spPr>
      </p:sp>
      <p:sp>
        <p:nvSpPr>
          <p:cNvPr id="8" name="Kicker"/>
          <p:cNvSpPr txBox="1"/>
          <p:nvPr/>
        </p:nvSpPr>
        <p:spPr>
          <a:xfrm>
            <a:off x="548640" y="548640"/>
            <a:ext cx="6400800" cy="365760"/>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Samsung Solve for Tomorrow 2026 · Environmental Sustainability through Technology</a:t>
            </a:r>
            <a:endParaRPr lang="en-US" sz="1300" dirty="0"/>
          </a:p>
        </p:txBody>
      </p:sp>
      <p:sp>
        <p:nvSpPr>
          <p:cNvPr id="9" name="Title"/>
          <p:cNvSpPr txBox="1"/>
          <p:nvPr/>
        </p:nvSpPr>
        <p:spPr>
          <a:xfrm>
            <a:off x="548640" y="1143000"/>
            <a:ext cx="5852160" cy="100584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TALA</a:t>
            </a:r>
            <a:endParaRPr lang="en-US" sz="6600" dirty="0"/>
          </a:p>
        </p:txBody>
      </p:sp>
      <p:sp>
        <p:nvSpPr>
          <p:cNvPr id="10" name="Tagline"/>
          <p:cNvSpPr txBox="1"/>
          <p:nvPr/>
        </p:nvSpPr>
        <p:spPr>
          <a:xfrm>
            <a:off x="548640" y="2286000"/>
            <a:ext cx="5669280" cy="1097280"/>
          </a:xfrm>
          <a:prstGeom prst="rect">
            <a:avLst/>
          </a:prstGeom>
          <a:noFill/>
          <a:ln/>
        </p:spPr>
        <p:txBody>
          <a:bodyPr wrap="square" lIns="0" tIns="0" rIns="0" bIns="0" rtlCol="0" anchor="t"/>
          <a:lstStyle/>
          <a:p>
            <a:pPr indent="0" marL="0">
              <a:buNone/>
            </a:pPr>
            <a:r>
              <a:rPr lang="en-US" sz="2000" dirty="0">
                <a:solidFill>
                  <a:schemeClr val="bg1"/>
                </a:solidFill>
                <a:latin typeface="Calibri" pitchFamily="34" charset="0"/>
                <a:ea typeface="Calibri" pitchFamily="34" charset="-122"/>
                <a:cs typeface="Calibri" pitchFamily="34" charset="-120"/>
              </a:rPr>
              <a:t>A PHP 6,000 solar-powered estero guardian that lifts floating plastic out of the water and counts every item as evidence for producer accountability</a:t>
            </a:r>
            <a:endParaRPr lang="en-US" sz="2000" dirty="0"/>
          </a:p>
        </p:txBody>
      </p:sp>
      <p:sp>
        <p:nvSpPr>
          <p:cNvPr id="11" name="Team"/>
          <p:cNvSpPr txBox="1"/>
          <p:nvPr/>
        </p:nvSpPr>
        <p:spPr>
          <a:xfrm>
            <a:off x="548640" y="3931920"/>
            <a:ext cx="6400800" cy="731520"/>
          </a:xfrm>
          <a:prstGeom prst="rect">
            <a:avLst/>
          </a:prstGeom>
          <a:noFill/>
          <a:ln/>
        </p:spPr>
        <p:txBody>
          <a:bodyPr wrap="square" lIns="0" tIns="0" rIns="0" bIns="0" rtlCol="0" anchor="ctr"/>
          <a:lstStyle/>
          <a:p>
            <a:pPr indent="0" marL="0">
              <a:buNone/>
            </a:pPr>
            <a:r>
              <a:rPr lang="en-US" sz="1400" b="1" dirty="0">
                <a:solidFill>
                  <a:schemeClr val="accent4"/>
                </a:solidFill>
                <a:latin typeface="Calibri" pitchFamily="34" charset="0"/>
                <a:ea typeface="Calibri" pitchFamily="34" charset="-122"/>
                <a:cs typeface="Calibri" pitchFamily="34" charset="-120"/>
              </a:rPr>
              <a:t>Quezon City Science High School</a:t>
            </a:r>
            <a:endParaRPr lang="en-US" sz="1400" dirty="0"/>
          </a:p>
          <a:p>
            <a:pPr indent="0" marL="0">
              <a:buNone/>
            </a:pPr>
            <a:r>
              <a:rPr lang="en-US" sz="1400" dirty="0">
                <a:solidFill>
                  <a:schemeClr val="accent4"/>
                </a:solidFill>
                <a:latin typeface="Calibri" pitchFamily="34" charset="0"/>
                <a:ea typeface="Calibri" pitchFamily="34" charset="-122"/>
                <a:cs typeface="Calibri" pitchFamily="34" charset="-120"/>
              </a:rPr>
              <a:t>[TEAM NAMES, Grade 10]  ·  Adviser: [NAME]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Our creeks carry plastic unrecorded</a:t>
            </a:r>
            <a:endParaRPr lang="en-US" sz="3200" dirty="0"/>
          </a:p>
        </p:txBody>
      </p:sp>
      <p:sp>
        <p:nvSpPr>
          <p:cNvPr id="3" name="Card 1"/>
          <p:cNvSpPr/>
          <p:nvPr/>
        </p:nvSpPr>
        <p:spPr>
          <a:xfrm>
            <a:off x="457200" y="1280160"/>
            <a:ext cx="2606040" cy="2331720"/>
          </a:xfrm>
          <a:prstGeom prst="roundRect">
            <a:avLst>
              <a:gd name="adj" fmla="val 3137"/>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4" name="Icon circle 1"/>
          <p:cNvSpPr/>
          <p:nvPr/>
        </p:nvSpPr>
        <p:spPr>
          <a:xfrm>
            <a:off x="685800" y="1481328"/>
            <a:ext cx="548640" cy="548640"/>
          </a:xfrm>
          <a:prstGeom prst="ellipse">
            <a:avLst/>
          </a:prstGeom>
          <a:solidFill>
            <a:schemeClr val="accent1"/>
          </a:solidFill>
          <a:ln w="12700">
            <a:solidFill>
              <a:schemeClr val="accent1"/>
            </a:solidFill>
            <a:prstDash val="solid"/>
          </a:ln>
        </p:spPr>
      </p:sp>
      <p:pic>
        <p:nvPicPr>
          <p:cNvPr id="5" name="Icon 1" descr="Removal is invisible">    </p:cNvPr>
          <p:cNvPicPr>
            <a:picLocks noChangeAspect="1"/>
          </p:cNvPicPr>
          <p:nvPr/>
        </p:nvPicPr>
        <p:blipFill>
          <a:blip r:embed="rId1"/>
          <a:stretch>
            <a:fillRect/>
          </a:stretch>
        </p:blipFill>
        <p:spPr>
          <a:xfrm>
            <a:off x="822960" y="1618488"/>
            <a:ext cx="274320" cy="274320"/>
          </a:xfrm>
          <a:prstGeom prst="rect">
            <a:avLst/>
          </a:prstGeom>
        </p:spPr>
      </p:pic>
      <p:sp>
        <p:nvSpPr>
          <p:cNvPr id="6" name="Card heading 1"/>
          <p:cNvSpPr txBox="1"/>
          <p:nvPr/>
        </p:nvSpPr>
        <p:spPr>
          <a:xfrm>
            <a:off x="685800" y="214884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Removal is invisible</a:t>
            </a:r>
            <a:endParaRPr lang="en-US" sz="1700" dirty="0"/>
          </a:p>
        </p:txBody>
      </p:sp>
      <p:sp>
        <p:nvSpPr>
          <p:cNvPr id="7" name="Card body 1"/>
          <p:cNvSpPr txBox="1"/>
          <p:nvPr/>
        </p:nvSpPr>
        <p:spPr>
          <a:xfrm>
            <a:off x="685800" y="2542032"/>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Cleanups are weighed in bulk. Nothing is kept about what the plastic was, so the same items return.</a:t>
            </a:r>
            <a:endParaRPr lang="en-US" sz="1300" dirty="0"/>
          </a:p>
        </p:txBody>
      </p:sp>
      <p:sp>
        <p:nvSpPr>
          <p:cNvPr id="8" name="Card 2"/>
          <p:cNvSpPr/>
          <p:nvPr/>
        </p:nvSpPr>
        <p:spPr>
          <a:xfrm>
            <a:off x="3246120" y="1280160"/>
            <a:ext cx="2606040" cy="2331720"/>
          </a:xfrm>
          <a:prstGeom prst="roundRect">
            <a:avLst>
              <a:gd name="adj" fmla="val 3137"/>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9" name="Icon circle 2"/>
          <p:cNvSpPr/>
          <p:nvPr/>
        </p:nvSpPr>
        <p:spPr>
          <a:xfrm>
            <a:off x="3474720" y="1481328"/>
            <a:ext cx="548640" cy="548640"/>
          </a:xfrm>
          <a:prstGeom prst="ellipse">
            <a:avLst/>
          </a:prstGeom>
          <a:solidFill>
            <a:schemeClr val="accent1"/>
          </a:solidFill>
          <a:ln w="12700">
            <a:solidFill>
              <a:schemeClr val="accent1"/>
            </a:solidFill>
            <a:prstDash val="solid"/>
          </a:ln>
        </p:spPr>
      </p:sp>
      <p:pic>
        <p:nvPicPr>
          <p:cNvPr id="10" name="Icon 2" descr="No item-level proof">    </p:cNvPr>
          <p:cNvPicPr>
            <a:picLocks noChangeAspect="1"/>
          </p:cNvPicPr>
          <p:nvPr/>
        </p:nvPicPr>
        <p:blipFill>
          <a:blip r:embed="rId2"/>
          <a:stretch>
            <a:fillRect/>
          </a:stretch>
        </p:blipFill>
        <p:spPr>
          <a:xfrm>
            <a:off x="3611880" y="1618488"/>
            <a:ext cx="274320" cy="274320"/>
          </a:xfrm>
          <a:prstGeom prst="rect">
            <a:avLst/>
          </a:prstGeom>
        </p:spPr>
      </p:pic>
      <p:sp>
        <p:nvSpPr>
          <p:cNvPr id="11" name="Card heading 2"/>
          <p:cNvSpPr txBox="1"/>
          <p:nvPr/>
        </p:nvSpPr>
        <p:spPr>
          <a:xfrm>
            <a:off x="3474720" y="214884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No item-level proof</a:t>
            </a:r>
            <a:endParaRPr lang="en-US" sz="1700" dirty="0"/>
          </a:p>
        </p:txBody>
      </p:sp>
      <p:sp>
        <p:nvSpPr>
          <p:cNvPr id="12" name="Card body 2"/>
          <p:cNvSpPr txBox="1"/>
          <p:nvPr/>
        </p:nvSpPr>
        <p:spPr>
          <a:xfrm>
            <a:off x="3474720" y="2542032"/>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RA 11898 makes producers responsible for packaging, but brand audits are periodic, manual and mostly land-based.</a:t>
            </a:r>
            <a:endParaRPr lang="en-US" sz="1300" dirty="0"/>
          </a:p>
        </p:txBody>
      </p:sp>
      <p:sp>
        <p:nvSpPr>
          <p:cNvPr id="13" name="Card 3"/>
          <p:cNvSpPr/>
          <p:nvPr/>
        </p:nvSpPr>
        <p:spPr>
          <a:xfrm>
            <a:off x="6035040" y="1280160"/>
            <a:ext cx="2606040" cy="2331720"/>
          </a:xfrm>
          <a:prstGeom prst="roundRect">
            <a:avLst>
              <a:gd name="adj" fmla="val 3137"/>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14" name="Icon circle 3"/>
          <p:cNvSpPr/>
          <p:nvPr/>
        </p:nvSpPr>
        <p:spPr>
          <a:xfrm>
            <a:off x="6263640" y="1481328"/>
            <a:ext cx="548640" cy="548640"/>
          </a:xfrm>
          <a:prstGeom prst="ellipse">
            <a:avLst/>
          </a:prstGeom>
          <a:solidFill>
            <a:schemeClr val="accent1"/>
          </a:solidFill>
          <a:ln w="12700">
            <a:solidFill>
              <a:schemeClr val="accent1"/>
            </a:solidFill>
            <a:prstDash val="solid"/>
          </a:ln>
        </p:spPr>
      </p:sp>
      <p:pic>
        <p:nvPicPr>
          <p:cNvPr id="15" name="Icon 3" descr="Blocked creeks flood">    </p:cNvPr>
          <p:cNvPicPr>
            <a:picLocks noChangeAspect="1"/>
          </p:cNvPicPr>
          <p:nvPr/>
        </p:nvPicPr>
        <p:blipFill>
          <a:blip r:embed="rId3"/>
          <a:stretch>
            <a:fillRect/>
          </a:stretch>
        </p:blipFill>
        <p:spPr>
          <a:xfrm>
            <a:off x="6400800" y="1618488"/>
            <a:ext cx="274320" cy="274320"/>
          </a:xfrm>
          <a:prstGeom prst="rect">
            <a:avLst/>
          </a:prstGeom>
        </p:spPr>
      </p:pic>
      <p:sp>
        <p:nvSpPr>
          <p:cNvPr id="16" name="Card heading 3"/>
          <p:cNvSpPr txBox="1"/>
          <p:nvPr/>
        </p:nvSpPr>
        <p:spPr>
          <a:xfrm>
            <a:off x="6263640" y="2148840"/>
            <a:ext cx="2194560" cy="36576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Blocked creeks flood</a:t>
            </a:r>
            <a:endParaRPr lang="en-US" sz="1700" dirty="0"/>
          </a:p>
        </p:txBody>
      </p:sp>
      <p:sp>
        <p:nvSpPr>
          <p:cNvPr id="17" name="Card body 3"/>
          <p:cNvSpPr txBox="1"/>
          <p:nvPr/>
        </p:nvSpPr>
        <p:spPr>
          <a:xfrm>
            <a:off x="6263640" y="2542032"/>
            <a:ext cx="2194560"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Debris chokes channels, and barangays learn of a blockage only after the water has risen.</a:t>
            </a:r>
            <a:endParaRPr lang="en-US" sz="1300" dirty="0"/>
          </a:p>
        </p:txBody>
      </p:sp>
      <p:sp>
        <p:nvSpPr>
          <p:cNvPr id="18" name="Gap band"/>
          <p:cNvSpPr/>
          <p:nvPr/>
        </p:nvSpPr>
        <p:spPr>
          <a:xfrm>
            <a:off x="457200" y="3840480"/>
            <a:ext cx="8229600" cy="731520"/>
          </a:xfrm>
          <a:prstGeom prst="roundRect">
            <a:avLst>
              <a:gd name="adj" fmla="val 10000"/>
            </a:avLst>
          </a:prstGeom>
          <a:solidFill>
            <a:schemeClr val="accent4"/>
          </a:solidFill>
          <a:ln w="12700">
            <a:solidFill>
              <a:schemeClr val="accent4"/>
            </a:solidFill>
            <a:prstDash val="solid"/>
          </a:ln>
        </p:spPr>
      </p:sp>
      <p:sp>
        <p:nvSpPr>
          <p:cNvPr id="19" name="Gap statement"/>
          <p:cNvSpPr txBox="1"/>
          <p:nvPr/>
        </p:nvSpPr>
        <p:spPr>
          <a:xfrm>
            <a:off x="685800" y="3886200"/>
            <a:ext cx="7772400" cy="64008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The gap: </a:t>
            </a:r>
            <a:pPr indent="0" marL="0">
              <a:buNone/>
            </a:pPr>
            <a:r>
              <a:rPr lang="en-US" sz="1600" dirty="0">
                <a:solidFill>
                  <a:schemeClr val="tx2"/>
                </a:solidFill>
                <a:latin typeface="Calibri" pitchFamily="34" charset="0"/>
                <a:ea typeface="Calibri" pitchFamily="34" charset="-122"/>
                <a:cs typeface="Calibri" pitchFamily="34" charset="-120"/>
              </a:rPr>
              <a:t>a continuous, low-cost record taken at the waterway itself, run by a single barangay.</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TALA lifts plastic out and counts every item</a:t>
            </a:r>
            <a:endParaRPr lang="en-US" sz="3200" dirty="0"/>
          </a:p>
        </p:txBody>
      </p:sp>
      <p:pic>
        <p:nvPicPr>
          <p:cNvPr id="3" name="Device drawing" descr="Side view of the TALA device: a post carrying a camera, level sensor, solar panel and electronics box, with a ramp, rake arm, motor and bin">    </p:cNvPr>
          <p:cNvPicPr>
            <a:picLocks noChangeAspect="1"/>
          </p:cNvPicPr>
          <p:nvPr/>
        </p:nvPicPr>
        <p:blipFill>
          <a:blip r:embed="rId1"/>
          <a:stretch>
            <a:fillRect/>
          </a:stretch>
        </p:blipFill>
        <p:spPr>
          <a:xfrm>
            <a:off x="457200" y="1280160"/>
            <a:ext cx="4846320" cy="2743200"/>
          </a:xfrm>
          <a:prstGeom prst="rect">
            <a:avLst/>
          </a:prstGeom>
        </p:spPr>
      </p:pic>
      <p:sp>
        <p:nvSpPr>
          <p:cNvPr id="4" name="Drawing caption"/>
          <p:cNvSpPr txBox="1"/>
          <p:nvPr/>
        </p:nvSpPr>
        <p:spPr>
          <a:xfrm>
            <a:off x="457200" y="4114800"/>
            <a:ext cx="484632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Schematic, not to scale</a:t>
            </a:r>
            <a:endParaRPr lang="en-US" sz="1000" dirty="0"/>
          </a:p>
        </p:txBody>
      </p:sp>
      <p:sp>
        <p:nvSpPr>
          <p:cNvPr id="5" name="Step circle 1"/>
          <p:cNvSpPr/>
          <p:nvPr/>
        </p:nvSpPr>
        <p:spPr>
          <a:xfrm>
            <a:off x="5532120" y="1325880"/>
            <a:ext cx="384048" cy="384048"/>
          </a:xfrm>
          <a:prstGeom prst="ellipse">
            <a:avLst/>
          </a:prstGeom>
          <a:solidFill>
            <a:schemeClr val="accent2"/>
          </a:solidFill>
          <a:ln w="12700">
            <a:solidFill>
              <a:schemeClr val="accent2"/>
            </a:solidFill>
            <a:prstDash val="solid"/>
          </a:ln>
        </p:spPr>
      </p:sp>
      <p:sp>
        <p:nvSpPr>
          <p:cNvPr id="6" name="Step number 1"/>
          <p:cNvSpPr txBox="1"/>
          <p:nvPr/>
        </p:nvSpPr>
        <p:spPr>
          <a:xfrm>
            <a:off x="5532120"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Step text 1"/>
          <p:cNvSpPr txBox="1"/>
          <p:nvPr/>
        </p:nvSpPr>
        <p:spPr>
          <a:xfrm>
            <a:off x="6053328" y="1280160"/>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Trap</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 bottle boom guides plastic to a bar screen.</a:t>
            </a:r>
            <a:endParaRPr lang="en-US" sz="1600" dirty="0"/>
          </a:p>
        </p:txBody>
      </p:sp>
      <p:sp>
        <p:nvSpPr>
          <p:cNvPr id="8" name="Step circle 2"/>
          <p:cNvSpPr/>
          <p:nvPr/>
        </p:nvSpPr>
        <p:spPr>
          <a:xfrm>
            <a:off x="5532120" y="2130552"/>
            <a:ext cx="384048" cy="384048"/>
          </a:xfrm>
          <a:prstGeom prst="ellipse">
            <a:avLst/>
          </a:prstGeom>
          <a:solidFill>
            <a:schemeClr val="accent2"/>
          </a:solidFill>
          <a:ln w="12700">
            <a:solidFill>
              <a:schemeClr val="accent2"/>
            </a:solidFill>
            <a:prstDash val="solid"/>
          </a:ln>
        </p:spPr>
      </p:sp>
      <p:sp>
        <p:nvSpPr>
          <p:cNvPr id="9" name="Step number 2"/>
          <p:cNvSpPr txBox="1"/>
          <p:nvPr/>
        </p:nvSpPr>
        <p:spPr>
          <a:xfrm>
            <a:off x="5532120" y="21305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0" name="Step text 2"/>
          <p:cNvSpPr txBox="1"/>
          <p:nvPr/>
        </p:nvSpPr>
        <p:spPr>
          <a:xfrm>
            <a:off x="6053328" y="2084832"/>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Lift</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 camera-triggered arm sweeps debris up a ramp into a bin.</a:t>
            </a:r>
            <a:endParaRPr lang="en-US" sz="1600" dirty="0"/>
          </a:p>
        </p:txBody>
      </p:sp>
      <p:sp>
        <p:nvSpPr>
          <p:cNvPr id="11" name="Step circle 3"/>
          <p:cNvSpPr/>
          <p:nvPr/>
        </p:nvSpPr>
        <p:spPr>
          <a:xfrm>
            <a:off x="5532120" y="2935224"/>
            <a:ext cx="384048" cy="384048"/>
          </a:xfrm>
          <a:prstGeom prst="ellipse">
            <a:avLst/>
          </a:prstGeom>
          <a:solidFill>
            <a:schemeClr val="accent2"/>
          </a:solidFill>
          <a:ln w="12700">
            <a:solidFill>
              <a:schemeClr val="accent2"/>
            </a:solidFill>
            <a:prstDash val="solid"/>
          </a:ln>
        </p:spPr>
      </p:sp>
      <p:sp>
        <p:nvSpPr>
          <p:cNvPr id="12" name="Step number 3"/>
          <p:cNvSpPr txBox="1"/>
          <p:nvPr/>
        </p:nvSpPr>
        <p:spPr>
          <a:xfrm>
            <a:off x="5532120" y="29352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3" name="Step text 3"/>
          <p:cNvSpPr txBox="1"/>
          <p:nvPr/>
        </p:nvSpPr>
        <p:spPr>
          <a:xfrm>
            <a:off x="6053328" y="2889504"/>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Count</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An on-chip model classifies each item by type and, where legible, brand.</a:t>
            </a:r>
            <a:endParaRPr lang="en-US" sz="1600" dirty="0"/>
          </a:p>
        </p:txBody>
      </p:sp>
      <p:sp>
        <p:nvSpPr>
          <p:cNvPr id="14" name="Step circle 4"/>
          <p:cNvSpPr/>
          <p:nvPr/>
        </p:nvSpPr>
        <p:spPr>
          <a:xfrm>
            <a:off x="5532120" y="3739896"/>
            <a:ext cx="384048" cy="384048"/>
          </a:xfrm>
          <a:prstGeom prst="ellipse">
            <a:avLst/>
          </a:prstGeom>
          <a:solidFill>
            <a:schemeClr val="accent2"/>
          </a:solidFill>
          <a:ln w="12700">
            <a:solidFill>
              <a:schemeClr val="accent2"/>
            </a:solidFill>
            <a:prstDash val="solid"/>
          </a:ln>
        </p:spPr>
      </p:sp>
      <p:sp>
        <p:nvSpPr>
          <p:cNvPr id="15" name="Step number 4"/>
          <p:cNvSpPr txBox="1"/>
          <p:nvPr/>
        </p:nvSpPr>
        <p:spPr>
          <a:xfrm>
            <a:off x="5532120" y="37398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6" name="Step text 4"/>
          <p:cNvSpPr txBox="1"/>
          <p:nvPr/>
        </p:nvSpPr>
        <p:spPr>
          <a:xfrm>
            <a:off x="6053328" y="3694176"/>
            <a:ext cx="2651760" cy="731520"/>
          </a:xfrm>
          <a:prstGeom prst="rect">
            <a:avLst/>
          </a:prstGeom>
          <a:noFill/>
          <a:ln/>
        </p:spPr>
        <p:txBody>
          <a:bodyPr wrap="square" lIns="0" tIns="0" rIns="0" bIns="0" rtlCol="0" anchor="t"/>
          <a:lstStyle/>
          <a:p>
            <a:pPr indent="0" marL="0">
              <a:buNone/>
            </a:pPr>
            <a:r>
              <a:rPr lang="en-US" sz="1600" b="1" dirty="0">
                <a:solidFill>
                  <a:srgbClr val="0E3B40"/>
                </a:solidFill>
                <a:latin typeface="Calibri" pitchFamily="34" charset="0"/>
                <a:ea typeface="Calibri" pitchFamily="34" charset="-122"/>
                <a:cs typeface="Calibri" pitchFamily="34" charset="-120"/>
              </a:rPr>
              <a:t>Report</a:t>
            </a:r>
            <a:endParaRPr lang="en-US" sz="1600" dirty="0"/>
          </a:p>
          <a:p>
            <a:pPr indent="0" marL="0">
              <a:buNone/>
            </a:pPr>
            <a:r>
              <a:rPr lang="en-US" sz="1300" dirty="0">
                <a:solidFill>
                  <a:srgbClr val="10272B"/>
                </a:solidFill>
                <a:latin typeface="Calibri" pitchFamily="34" charset="0"/>
                <a:ea typeface="Calibri" pitchFamily="34" charset="-122"/>
                <a:cs typeface="Calibri" pitchFamily="34" charset="-120"/>
              </a:rPr>
              <a:t>A weekly offline report and an open dataset for the barangay.</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The parts exist. The combination is new</a:t>
            </a:r>
            <a:endParaRPr lang="en-US" sz="3200" dirty="0"/>
          </a:p>
        </p:txBody>
      </p:sp>
      <p:sp>
        <p:nvSpPr>
          <p:cNvPr id="3" name="Left heading"/>
          <p:cNvSpPr txBox="1"/>
          <p:nvPr/>
        </p:nvSpPr>
        <p:spPr>
          <a:xfrm>
            <a:off x="457200" y="1188720"/>
            <a:ext cx="3840480" cy="32004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How it works</a:t>
            </a:r>
            <a:endParaRPr lang="en-US" sz="1800" dirty="0"/>
          </a:p>
        </p:txBody>
      </p:sp>
      <p:sp>
        <p:nvSpPr>
          <p:cNvPr id="4" name="Technology list"/>
          <p:cNvSpPr txBox="1"/>
          <p:nvPr/>
        </p:nvSpPr>
        <p:spPr>
          <a:xfrm>
            <a:off x="457200" y="1572768"/>
            <a:ext cx="3931920" cy="3017520"/>
          </a:xfrm>
          <a:prstGeom prst="rect">
            <a:avLst/>
          </a:prstGeom>
          <a:noFill/>
          <a:ln/>
        </p:spPr>
        <p:txBody>
          <a:bodyPr wrap="square" lIns="0" tIns="0" rIns="0" bIns="0" rtlCol="0" anchor="t"/>
          <a:lstStyle/>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On-chip counting.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An INT8 model on an ESP32-S3 classifies each item and triggers the arm.</a:t>
            </a:r>
            <a:endParaRPr lang="en-US" sz="1400" dirty="0"/>
          </a:p>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Jam protection.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Current and Hall sensing, a shear pin and at most three retries.</a:t>
            </a:r>
            <a:endParaRPr lang="en-US" sz="1400" dirty="0"/>
          </a:p>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Audit-grade data.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An append-only log of class, time, level and image hash, checked by a weekly hand audit.</a:t>
            </a:r>
            <a:endParaRPr lang="en-US" sz="1400" dirty="0"/>
          </a:p>
          <a:p>
            <a:pPr marL="342900" indent="-342900">
              <a:spcAft>
                <a:spcPts val="1000"/>
              </a:spcAft>
              <a:buSzPct val="100000"/>
              <a:buChar char="•"/>
            </a:pPr>
            <a:r>
              <a:rPr lang="en-US" sz="1400" b="1" dirty="0">
                <a:solidFill>
                  <a:srgbClr val="0E3B40"/>
                </a:solidFill>
                <a:latin typeface="Calibri" pitchFamily="34" charset="0"/>
                <a:ea typeface="Calibri" pitchFamily="34" charset="-122"/>
                <a:cs typeface="Calibri" pitchFamily="34" charset="-120"/>
              </a:rPr>
              <a:t>Solar budget. </a:t>
            </a:r>
            <a:pPr indent="0" marL="0">
              <a:spcAft>
                <a:spcPts val="1000"/>
              </a:spcAft>
              <a:buNone/>
            </a:pPr>
            <a:r>
              <a:rPr lang="en-US" sz="1400" dirty="0">
                <a:solidFill>
                  <a:srgbClr val="10272B"/>
                </a:solidFill>
                <a:latin typeface="Calibri" pitchFamily="34" charset="0"/>
                <a:ea typeface="Calibri" pitchFamily="34" charset="-122"/>
                <a:cs typeface="Calibri" pitchFamily="34" charset="-120"/>
              </a:rPr>
              <a:t>About 18 Wh a day against about 6 Wh for the electronics (planning figure).</a:t>
            </a:r>
            <a:endParaRPr lang="en-US" sz="1400" dirty="0"/>
          </a:p>
        </p:txBody>
      </p:sp>
      <p:sp>
        <p:nvSpPr>
          <p:cNvPr id="5" name="Right heading"/>
          <p:cNvSpPr txBox="1"/>
          <p:nvPr/>
        </p:nvSpPr>
        <p:spPr>
          <a:xfrm>
            <a:off x="4754880" y="1188720"/>
            <a:ext cx="3931920" cy="32004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What exists, and what it leaves open</a:t>
            </a:r>
            <a:endParaRPr lang="en-US" sz="1800" dirty="0"/>
          </a:p>
        </p:txBody>
      </p:sp>
      <p:graphicFrame>
        <p:nvGraphicFramePr>
          <p:cNvPr id="5" name="Prior art table"/>
          <p:cNvGraphicFramePr>
            <a:graphicFrameLocks noGrp="1"/>
          </p:cNvGraphicFramePr>
          <p:nvPr>
            <p:extLst>
              <p:ext uri="{D42A27DB-BD31-4B8C-83A1-F6EECF244321}">
                <p14:modId xmlns:p14="http://schemas.microsoft.com/office/powerpoint/2010/main" val="1579011935"/>
              </p:ext>
            </p:extLst>
          </p:nvPr>
        </p:nvGraphicFramePr>
        <p:xfrm>
          <a:off x="4754880" y="1600200"/>
          <a:ext cx="3931920" cy="914400"/>
        </p:xfrm>
        <a:graphic>
          <a:graphicData uri="http://schemas.openxmlformats.org/drawingml/2006/table">
            <a:tbl>
              <a:tblPr/>
              <a:tblGrid>
                <a:gridCol w="2103120"/>
                <a:gridCol w="182880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Existing work</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0E3B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Leaves open</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0E3B40"/>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Cameras and deep learning (van Lieshout et al., 2020)</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Monitors only, removes nothing</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Robotic boats (HydroSentinel, 2026)</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Need radio, charging and an operator</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Estero trash traps (Manila Bulletin, 2026)</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Record bulk weight only</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Brand audits (Break Free From Plastic, 2019)</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dirty="0">
                          <a:solidFill>
                            <a:srgbClr val="10272B"/>
                          </a:solidFill>
                          <a:latin typeface="Calibri" pitchFamily="34" charset="0"/>
                          <a:ea typeface="Calibri" pitchFamily="34" charset="-122"/>
                          <a:cs typeface="Calibri" pitchFamily="34" charset="-120"/>
                        </a:rPr>
                        <a:t>Periodic, manual, land-based</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0272B"/>
                          </a:solidFill>
                          <a:latin typeface="Calibri" pitchFamily="34" charset="0"/>
                          <a:ea typeface="Calibri" pitchFamily="34" charset="-122"/>
                          <a:cs typeface="Calibri" pitchFamily="34" charset="-120"/>
                        </a:rPr>
                        <a:t>TALA</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c>
                  <a:txBody>
                    <a:bodyPr/>
                    <a:lstStyle/>
                    <a:p>
                      <a:pPr indent="0" marL="0">
                        <a:buNone/>
                      </a:pPr>
                      <a:r>
                        <a:rPr lang="en-US" sz="1200" b="1" dirty="0">
                          <a:solidFill>
                            <a:srgbClr val="10272B"/>
                          </a:solidFill>
                          <a:latin typeface="Calibri" pitchFamily="34" charset="0"/>
                          <a:ea typeface="Calibri" pitchFamily="34" charset="-122"/>
                          <a:cs typeface="Calibri" pitchFamily="34" charset="-120"/>
                        </a:rPr>
                        <a:t>Fixed, solar, lifts and counts on one chip</a:t>
                      </a:r>
                      <a:endParaRPr lang="en-US" sz="1200" dirty="0">
                        <a:latin typeface="Calibri" charset="0"/>
                        <a:ea typeface="Calibri" charset="0"/>
                        <a:cs typeface="Calibri" charset="0"/>
                      </a:endParaRPr>
                    </a:p>
                  </a:txBody>
                  <a:tcPr marL="73152" marR="73152" marT="45720" marB="45720">
                    <a:lnL w="9525" cap="flat" cmpd="sng" algn="ctr">
                      <a:solidFill>
                        <a:srgbClr val="CFE6EC"/>
                      </a:solidFill>
                      <a:prstDash val="solid"/>
                      <a:round/>
                      <a:headEnd type="none" w="med" len="med"/>
                      <a:tailEnd type="none" w="med" len="med"/>
                    </a:lnL>
                    <a:lnR w="9525" cap="flat" cmpd="sng" algn="ctr">
                      <a:solidFill>
                        <a:srgbClr val="CFE6EC"/>
                      </a:solidFill>
                      <a:prstDash val="solid"/>
                      <a:round/>
                      <a:headEnd type="none" w="med" len="med"/>
                      <a:tailEnd type="none" w="med" len="med"/>
                    </a:lnR>
                    <a:lnT w="9525" cap="flat" cmpd="sng" algn="ctr">
                      <a:solidFill>
                        <a:srgbClr val="CFE6EC"/>
                      </a:solidFill>
                      <a:prstDash val="solid"/>
                      <a:round/>
                      <a:headEnd type="none" w="med" len="med"/>
                      <a:tailEnd type="none" w="med" len="med"/>
                    </a:lnT>
                    <a:lnB w="9525" cap="flat" cmpd="sng" algn="ctr">
                      <a:solidFill>
                        <a:srgbClr val="CFE6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22960"/>
          </a:xfrm>
          <a:prstGeom prst="rect">
            <a:avLst/>
          </a:prstGeom>
          <a:noFill/>
          <a:ln/>
        </p:spPr>
        <p:txBody>
          <a:bodyPr wrap="square" lIns="0" tIns="0" rIns="0" bIns="0" rtlCol="0" anchor="ctr"/>
          <a:lstStyle/>
          <a:p>
            <a:pPr algn="l" indent="0" marL="0">
              <a:buNone/>
            </a:pPr>
            <a:r>
              <a:rPr lang="en-US" sz="3200" b="1" dirty="0">
                <a:solidFill>
                  <a:srgbClr val="0E3B40"/>
                </a:solidFill>
                <a:latin typeface="Cambria" pitchFamily="34" charset="0"/>
                <a:ea typeface="Cambria" pitchFamily="34" charset="-122"/>
                <a:cs typeface="Cambria" pitchFamily="34" charset="-120"/>
              </a:rPr>
              <a:t>Each stage waits for a passing test</a:t>
            </a:r>
            <a:endParaRPr lang="en-US" sz="3200" dirty="0"/>
          </a:p>
        </p:txBody>
      </p:sp>
      <p:sp>
        <p:nvSpPr>
          <p:cNvPr id="3" name="Stage card 1"/>
          <p:cNvSpPr/>
          <p:nvPr/>
        </p:nvSpPr>
        <p:spPr>
          <a:xfrm>
            <a:off x="457200" y="1234440"/>
            <a:ext cx="2606040" cy="1600200"/>
          </a:xfrm>
          <a:prstGeom prst="roundRect">
            <a:avLst>
              <a:gd name="adj" fmla="val 4571"/>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4" name="Stage name 1"/>
          <p:cNvSpPr txBox="1"/>
          <p:nvPr/>
        </p:nvSpPr>
        <p:spPr>
          <a:xfrm>
            <a:off x="640080" y="1325880"/>
            <a:ext cx="224028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Stage 1 · Bench</a:t>
            </a:r>
            <a:endParaRPr lang="en-US" sz="1500" dirty="0"/>
          </a:p>
        </p:txBody>
      </p:sp>
      <p:sp>
        <p:nvSpPr>
          <p:cNvPr id="5" name="Stage cost 1"/>
          <p:cNvSpPr txBox="1"/>
          <p:nvPr/>
        </p:nvSpPr>
        <p:spPr>
          <a:xfrm>
            <a:off x="640080" y="1645920"/>
            <a:ext cx="2240280" cy="41148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PHP 1,800</a:t>
            </a:r>
            <a:endParaRPr lang="en-US" sz="2400" dirty="0"/>
          </a:p>
        </p:txBody>
      </p:sp>
      <p:sp>
        <p:nvSpPr>
          <p:cNvPr id="6" name="Stage gate 1"/>
          <p:cNvSpPr txBox="1"/>
          <p:nvPr/>
        </p:nvSpPr>
        <p:spPr>
          <a:xfrm>
            <a:off x="640080" y="2103120"/>
            <a:ext cx="224028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Gate: precision and recall on held-out photos meet the target.</a:t>
            </a:r>
            <a:endParaRPr lang="en-US" sz="1200" dirty="0"/>
          </a:p>
        </p:txBody>
      </p:sp>
      <p:sp>
        <p:nvSpPr>
          <p:cNvPr id="7" name="Stage card 2"/>
          <p:cNvSpPr/>
          <p:nvPr/>
        </p:nvSpPr>
        <p:spPr>
          <a:xfrm>
            <a:off x="3246120" y="1234440"/>
            <a:ext cx="2606040" cy="1600200"/>
          </a:xfrm>
          <a:prstGeom prst="roundRect">
            <a:avLst>
              <a:gd name="adj" fmla="val 4571"/>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8" name="Stage name 2"/>
          <p:cNvSpPr txBox="1"/>
          <p:nvPr/>
        </p:nvSpPr>
        <p:spPr>
          <a:xfrm>
            <a:off x="3429000" y="1325880"/>
            <a:ext cx="224028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Stage 2 · Passive trap</a:t>
            </a:r>
            <a:endParaRPr lang="en-US" sz="1500" dirty="0"/>
          </a:p>
        </p:txBody>
      </p:sp>
      <p:sp>
        <p:nvSpPr>
          <p:cNvPr id="9" name="Stage cost 2"/>
          <p:cNvSpPr txBox="1"/>
          <p:nvPr/>
        </p:nvSpPr>
        <p:spPr>
          <a:xfrm>
            <a:off x="3429000" y="1645920"/>
            <a:ext cx="2240280" cy="41148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PHP 2,500</a:t>
            </a:r>
            <a:endParaRPr lang="en-US" sz="2400" dirty="0"/>
          </a:p>
        </p:txBody>
      </p:sp>
      <p:sp>
        <p:nvSpPr>
          <p:cNvPr id="10" name="Stage gate 2"/>
          <p:cNvSpPr txBox="1"/>
          <p:nvPr/>
        </p:nvSpPr>
        <p:spPr>
          <a:xfrm>
            <a:off x="3429000" y="2103120"/>
            <a:ext cx="224028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Gate: boom survives rain events, counts within 15% of hand counts.</a:t>
            </a:r>
            <a:endParaRPr lang="en-US" sz="1200" dirty="0"/>
          </a:p>
        </p:txBody>
      </p:sp>
      <p:sp>
        <p:nvSpPr>
          <p:cNvPr id="11" name="Stage card 3"/>
          <p:cNvSpPr/>
          <p:nvPr/>
        </p:nvSpPr>
        <p:spPr>
          <a:xfrm>
            <a:off x="6035040" y="1234440"/>
            <a:ext cx="2606040" cy="1600200"/>
          </a:xfrm>
          <a:prstGeom prst="roundRect">
            <a:avLst>
              <a:gd name="adj" fmla="val 4571"/>
            </a:avLst>
          </a:prstGeom>
          <a:solidFill>
            <a:schemeClr val="bg1"/>
          </a:solidFill>
          <a:ln w="12700">
            <a:solidFill>
              <a:schemeClr val="accent4"/>
            </a:solidFill>
            <a:prstDash val="solid"/>
          </a:ln>
          <a:effectLst>
            <a:outerShdw sx="100000" sy="100000" kx="0" ky="0" algn="bl" rotWithShape="0" blurRad="101600" dist="25400" dir="5400000">
              <a:srgbClr val="000000">
                <a:alpha val="12000"/>
              </a:srgbClr>
            </a:outerShdw>
          </a:effectLst>
        </p:spPr>
      </p:sp>
      <p:sp>
        <p:nvSpPr>
          <p:cNvPr id="12" name="Stage name 3"/>
          <p:cNvSpPr txBox="1"/>
          <p:nvPr/>
        </p:nvSpPr>
        <p:spPr>
          <a:xfrm>
            <a:off x="6217920" y="1325880"/>
            <a:ext cx="224028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Stage 3 · Arm and sensor</a:t>
            </a:r>
            <a:endParaRPr lang="en-US" sz="1500" dirty="0"/>
          </a:p>
        </p:txBody>
      </p:sp>
      <p:sp>
        <p:nvSpPr>
          <p:cNvPr id="13" name="Stage cost 3"/>
          <p:cNvSpPr txBox="1"/>
          <p:nvPr/>
        </p:nvSpPr>
        <p:spPr>
          <a:xfrm>
            <a:off x="6217920" y="1645920"/>
            <a:ext cx="2240280" cy="41148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PHP 1,350</a:t>
            </a:r>
            <a:endParaRPr lang="en-US" sz="2400" dirty="0"/>
          </a:p>
        </p:txBody>
      </p:sp>
      <p:sp>
        <p:nvSpPr>
          <p:cNvPr id="14" name="Stage gate 3"/>
          <p:cNvSpPr txBox="1"/>
          <p:nvPr/>
        </p:nvSpPr>
        <p:spPr>
          <a:xfrm>
            <a:off x="6217920" y="2103120"/>
            <a:ext cx="224028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Gate: wet bench test, then solar-only lifts at the target jam rate.</a:t>
            </a:r>
            <a:endParaRPr lang="en-US" sz="1200" dirty="0"/>
          </a:p>
        </p:txBody>
      </p:sp>
      <p:graphicFrame>
        <p:nvGraphicFramePr>
          <p:cNvPr id="15" name="Budget chart" descr=""/>
          <p:cNvGraphicFramePr/>
          <p:nvPr/>
        </p:nvGraphicFramePr>
        <p:xfrm>
          <a:off x="457200" y="3017520"/>
          <a:ext cx="4572000" cy="1691640"/>
        </p:xfrm>
        <a:graphic xmlns:a="http://schemas.openxmlformats.org/drawingml/2006/main">
          <a:graphicData uri="http://schemas.openxmlformats.org/drawingml/2006/chart">
            <c:chart xmlns:c="http://schemas.openxmlformats.org/drawingml/2006/chart" r:id="rId1"/>
          </a:graphicData>
        </a:graphic>
      </p:graphicFrame>
      <p:sp>
        <p:nvSpPr>
          <p:cNvPr id="16" name="Total"/>
          <p:cNvSpPr txBox="1"/>
          <p:nvPr/>
        </p:nvSpPr>
        <p:spPr>
          <a:xfrm>
            <a:off x="5394960" y="3108960"/>
            <a:ext cx="3291840" cy="64008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PHP 6,000</a:t>
            </a:r>
            <a:endParaRPr lang="en-US" sz="4000" dirty="0"/>
          </a:p>
        </p:txBody>
      </p:sp>
      <p:sp>
        <p:nvSpPr>
          <p:cNvPr id="17" name="Total note"/>
          <p:cNvSpPr txBox="1"/>
          <p:nvPr/>
        </p:nvSpPr>
        <p:spPr>
          <a:xfrm>
            <a:off x="5394960" y="3749040"/>
            <a:ext cx="329184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total, including PHP 350 contingency. If the arm fails, the boom, bin and camera still deliver the data.</a:t>
            </a:r>
            <a:endParaRPr lang="en-US" sz="1300" dirty="0"/>
          </a:p>
        </p:txBody>
      </p:sp>
      <p:sp>
        <p:nvSpPr>
          <p:cNvPr id="18" name="Dates"/>
          <p:cNvSpPr txBox="1"/>
          <p:nvPr/>
        </p:nvSpPr>
        <p:spPr>
          <a:xfrm>
            <a:off x="5394960" y="4343400"/>
            <a:ext cx="329184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Nov 2 submit · Dec 7 present · Mar 2027 replicate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86868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One creek proves the method</a:t>
            </a:r>
            <a:endParaRPr lang="en-US" sz="3200" dirty="0"/>
          </a:p>
        </p:txBody>
      </p:sp>
      <p:sp>
        <p:nvSpPr>
          <p:cNvPr id="3" name="Research question"/>
          <p:cNvSpPr txBox="1"/>
          <p:nvPr/>
        </p:nvSpPr>
        <p:spPr>
          <a:xfrm>
            <a:off x="457200" y="1280160"/>
            <a:ext cx="8229600" cy="7772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Research question  </a:t>
            </a:r>
            <a:pPr indent="0" marL="0">
              <a:buNone/>
            </a:pPr>
            <a:r>
              <a:rPr lang="en-US" sz="1500" dirty="0">
                <a:solidFill>
                  <a:schemeClr val="bg1"/>
                </a:solidFill>
                <a:latin typeface="Calibri" pitchFamily="34" charset="0"/>
                <a:ea typeface="Calibri" pitchFamily="34" charset="-122"/>
                <a:cs typeface="Calibri" pitchFamily="34" charset="-120"/>
              </a:rPr>
              <a:t>Can a PHP 6,000 on-chip counter match a trained hand audit within 15 percent, and does continuous counting reveal rain-driven pulses that weekly audits miss?</a:t>
            </a:r>
            <a:endParaRPr lang="en-US" sz="1500" dirty="0"/>
          </a:p>
        </p:txBody>
      </p:sp>
      <p:sp>
        <p:nvSpPr>
          <p:cNvPr id="4" name="Stat tile 1"/>
          <p:cNvSpPr/>
          <p:nvPr/>
        </p:nvSpPr>
        <p:spPr>
          <a:xfrm>
            <a:off x="457200" y="2286000"/>
            <a:ext cx="2606040" cy="1234440"/>
          </a:xfrm>
          <a:prstGeom prst="roundRect">
            <a:avLst>
              <a:gd name="adj" fmla="val 5926"/>
            </a:avLst>
          </a:prstGeom>
          <a:solidFill>
            <a:srgbClr val="10272B"/>
          </a:solidFill>
          <a:ln w="12700">
            <a:solidFill>
              <a:schemeClr val="accent1"/>
            </a:solidFill>
            <a:prstDash val="solid"/>
          </a:ln>
        </p:spPr>
      </p:sp>
      <p:sp>
        <p:nvSpPr>
          <p:cNvPr id="5" name="Stat 1"/>
          <p:cNvSpPr txBox="1"/>
          <p:nvPr/>
        </p:nvSpPr>
        <p:spPr>
          <a:xfrm>
            <a:off x="640080" y="2377440"/>
            <a:ext cx="2240280" cy="5943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±15%</a:t>
            </a:r>
            <a:endParaRPr lang="en-US" sz="3200" dirty="0"/>
          </a:p>
        </p:txBody>
      </p:sp>
      <p:sp>
        <p:nvSpPr>
          <p:cNvPr id="6" name="Stat label 1"/>
          <p:cNvSpPr txBox="1"/>
          <p:nvPr/>
        </p:nvSpPr>
        <p:spPr>
          <a:xfrm>
            <a:off x="640080" y="2971800"/>
            <a:ext cx="2240280" cy="4572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device count against a hand audit</a:t>
            </a:r>
            <a:endParaRPr lang="en-US" sz="1300" dirty="0"/>
          </a:p>
        </p:txBody>
      </p:sp>
      <p:sp>
        <p:nvSpPr>
          <p:cNvPr id="7" name="Stat tile 2"/>
          <p:cNvSpPr/>
          <p:nvPr/>
        </p:nvSpPr>
        <p:spPr>
          <a:xfrm>
            <a:off x="3246120" y="2286000"/>
            <a:ext cx="2606040" cy="1234440"/>
          </a:xfrm>
          <a:prstGeom prst="roundRect">
            <a:avLst>
              <a:gd name="adj" fmla="val 5926"/>
            </a:avLst>
          </a:prstGeom>
          <a:solidFill>
            <a:srgbClr val="10272B"/>
          </a:solidFill>
          <a:ln w="12700">
            <a:solidFill>
              <a:schemeClr val="accent1"/>
            </a:solidFill>
            <a:prstDash val="solid"/>
          </a:ln>
        </p:spPr>
      </p:sp>
      <p:sp>
        <p:nvSpPr>
          <p:cNvPr id="8" name="Stat 2"/>
          <p:cNvSpPr txBox="1"/>
          <p:nvPr/>
        </p:nvSpPr>
        <p:spPr>
          <a:xfrm>
            <a:off x="3429000" y="2377440"/>
            <a:ext cx="2240280" cy="5943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PHP 6,000</a:t>
            </a:r>
            <a:endParaRPr lang="en-US" sz="3200" dirty="0"/>
          </a:p>
        </p:txBody>
      </p:sp>
      <p:sp>
        <p:nvSpPr>
          <p:cNvPr id="9" name="Stat label 2"/>
          <p:cNvSpPr txBox="1"/>
          <p:nvPr/>
        </p:nvSpPr>
        <p:spPr>
          <a:xfrm>
            <a:off x="3429000" y="2971800"/>
            <a:ext cx="2240280" cy="4572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per unit, copyable by any barangay</a:t>
            </a:r>
            <a:endParaRPr lang="en-US" sz="1300" dirty="0"/>
          </a:p>
        </p:txBody>
      </p:sp>
      <p:sp>
        <p:nvSpPr>
          <p:cNvPr id="10" name="Stat tile 3"/>
          <p:cNvSpPr/>
          <p:nvPr/>
        </p:nvSpPr>
        <p:spPr>
          <a:xfrm>
            <a:off x="6035040" y="2286000"/>
            <a:ext cx="2606040" cy="1234440"/>
          </a:xfrm>
          <a:prstGeom prst="roundRect">
            <a:avLst>
              <a:gd name="adj" fmla="val 5926"/>
            </a:avLst>
          </a:prstGeom>
          <a:solidFill>
            <a:srgbClr val="10272B"/>
          </a:solidFill>
          <a:ln w="12700">
            <a:solidFill>
              <a:schemeClr val="accent1"/>
            </a:solidFill>
            <a:prstDash val="solid"/>
          </a:ln>
        </p:spPr>
      </p:sp>
      <p:sp>
        <p:nvSpPr>
          <p:cNvPr id="11" name="Stat 3"/>
          <p:cNvSpPr txBox="1"/>
          <p:nvPr/>
        </p:nvSpPr>
        <p:spPr>
          <a:xfrm>
            <a:off x="6217920" y="2377440"/>
            <a:ext cx="2240280" cy="5943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1 to 2</a:t>
            </a:r>
            <a:endParaRPr lang="en-US" sz="3200" dirty="0"/>
          </a:p>
        </p:txBody>
      </p:sp>
      <p:sp>
        <p:nvSpPr>
          <p:cNvPr id="12" name="Stat label 3"/>
          <p:cNvSpPr txBox="1"/>
          <p:nvPr/>
        </p:nvSpPr>
        <p:spPr>
          <a:xfrm>
            <a:off x="6217920" y="2971800"/>
            <a:ext cx="2240280" cy="45720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more sites by March 2027</a:t>
            </a:r>
            <a:endParaRPr lang="en-US" sz="1300" dirty="0"/>
          </a:p>
        </p:txBody>
      </p:sp>
      <p:sp>
        <p:nvSpPr>
          <p:cNvPr id="13" name="Takeaway"/>
          <p:cNvSpPr txBox="1"/>
          <p:nvPr/>
        </p:nvSpPr>
        <p:spPr>
          <a:xfrm>
            <a:off x="457200" y="3794760"/>
            <a:ext cx="8229600" cy="777240"/>
          </a:xfrm>
          <a:prstGeom prst="rect">
            <a:avLst/>
          </a:prstGeom>
          <a:noFill/>
          <a:ln/>
        </p:spPr>
        <p:txBody>
          <a:bodyPr wrap="square" lIns="0" tIns="0" rIns="0" bIns="0" rtlCol="0" anchor="t"/>
          <a:lstStyle/>
          <a:p>
            <a:pPr indent="0" marL="0">
              <a:buNone/>
            </a:pPr>
            <a:r>
              <a:rPr lang="en-US" sz="1700" i="1" dirty="0">
                <a:solidFill>
                  <a:schemeClr val="bg1"/>
                </a:solidFill>
                <a:latin typeface="Calibri" pitchFamily="34" charset="0"/>
                <a:ea typeface="Calibri" pitchFamily="34" charset="-122"/>
                <a:cs typeface="Calibri" pitchFamily="34" charset="-120"/>
              </a:rPr>
              <a:t>The Philippines already knows who makes much of its plastic. TALA makes the proof continuous, cheap and community-owned, and lifts some of the plastic out along the way.</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TALA Estero">
  <a:themeElements>
    <a:clrScheme name="TALA Estero">
      <a:dk1>
        <a:srgbClr val="10272B"/>
      </a:dk1>
      <a:lt1>
        <a:srgbClr val="FFFFFF"/>
      </a:lt1>
      <a:dk2>
        <a:srgbClr val="0E3B40"/>
      </a:dk2>
      <a:lt2>
        <a:srgbClr val="EEF4F4"/>
      </a:lt2>
      <a:accent1>
        <a:srgbClr val="0B7A75"/>
      </a:accent1>
      <a:accent2>
        <a:srgbClr val="E0701F"/>
      </a:accent2>
      <a:accent3>
        <a:srgbClr val="5F9A49"/>
      </a:accent3>
      <a:accent4>
        <a:srgbClr val="CFE6EC"/>
      </a:accent4>
      <a:accent5>
        <a:srgbClr val="5E716E"/>
      </a:accent5>
      <a:accent6>
        <a:srgbClr val="B8433A"/>
      </a:accent6>
      <a:hlink>
        <a:srgbClr val="0B7A75"/>
      </a:hlink>
      <a:folHlink>
        <a:srgbClr val="5E716E"/>
      </a:folHlink>
    </a:clrScheme>
    <a:fontScheme name="TALA Ester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TALA: Samsung Solve for Tomorrow 2026 entry</dc:title>
  <dc:subject>PptxGenJS Presentation</dc:subject>
  <dc:creator>Quezon City Science High School</dc:creator>
  <cp:lastModifiedBy>Quezon City Science High School</cp:lastModifiedBy>
  <cp:revision>1</cp:revision>
  <dcterms:created xsi:type="dcterms:W3CDTF">2026-10-28T12:37:05Z</dcterms:created>
  <dcterms:modified xsi:type="dcterms:W3CDTF">2026-10-28T12:37:05Z</dcterms:modified>
</cp:coreProperties>
</file>