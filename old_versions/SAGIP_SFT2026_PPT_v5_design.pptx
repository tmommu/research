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anrope"/>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5" roundtripDataSignature="AMtx7miqmudvUpm8cB+CHGjTPrvBfpG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font" Target="fonts/Manrope-regular.fntdata"/><Relationship Id="rId14" Type="http://schemas.openxmlformats.org/officeDocument/2006/relationships/font" Target="fonts/Manrope-bold.fntdata"/><Relationship Id="rId1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
          <p:cNvSpPr txBox="1"/>
          <p:nvPr>
            <p:ph idx="1" type="body"/>
          </p:nvPr>
        </p:nvSpPr>
        <p:spPr>
          <a:xfrm>
            <a:off x="901950" y="2194560"/>
            <a:ext cx="7340100" cy="15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100">
                <a:solidFill>
                  <a:srgbClr val="000000"/>
                </a:solidFill>
              </a:rPr>
              <a:t>Team Members:</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en" sz="1100">
                <a:solidFill>
                  <a:srgbClr val="1F2937"/>
                </a:solidFill>
              </a:rPr>
              <a:t>Aaron Jed E. Campo, Grade 10</a:t>
            </a:r>
            <a:r>
              <a:rPr lang="en" sz="1100">
                <a:solidFill>
                  <a:schemeClr val="accent3"/>
                </a:solidFill>
              </a:rPr>
              <a:t/>
            </a:r>
            <a:endParaRPr sz="1100">
              <a:solidFill>
                <a:schemeClr val="accent3"/>
              </a:solidFill>
            </a:endParaRPr>
          </a:p>
          <a:p>
            <a:pPr indent="-298450" lvl="0" marL="457200" rtl="0" algn="l">
              <a:lnSpc>
                <a:spcPct val="115000"/>
              </a:lnSpc>
              <a:spcBef>
                <a:spcPts val="0"/>
              </a:spcBef>
              <a:spcAft>
                <a:spcPts val="0"/>
              </a:spcAft>
              <a:buClr>
                <a:schemeClr val="dk1"/>
              </a:buClr>
              <a:buSzPts val="1100"/>
              <a:buChar char="●"/>
            </a:pPr>
            <a:r>
              <a:rPr lang="en" sz="1100">
                <a:solidFill>
                  <a:srgbClr val="1F2937"/>
                </a:solidFill>
              </a:rPr>
              <a:t>Raya Kalayaan R. Amparo, Grade 10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rgbClr val="1F2937"/>
                </a:solidFill>
              </a:rPr>
              <a:t>Ayeza Leigh F. Delos Santos, Grade 10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rgbClr val="1F2937"/>
                </a:solidFill>
              </a:rPr>
              <a:t>Sophia Laureen A. Tado, Grade 10</a:t>
            </a:r>
            <a:endParaRPr sz="1100">
              <a:solidFill>
                <a:schemeClr val="dk1"/>
              </a:solidFill>
            </a:endParaRPr>
          </a:p>
          <a:p>
            <a:pPr indent="0" lvl="0" marL="0" rtl="0" algn="l">
              <a:lnSpc>
                <a:spcPct val="115000"/>
              </a:lnSpc>
              <a:spcBef>
                <a:spcPts val="0"/>
              </a:spcBef>
              <a:spcAft>
                <a:spcPts val="0"/>
              </a:spcAft>
              <a:buSzPts val="1800"/>
              <a:buNone/>
            </a:pPr>
            <a:r>
              <a:t/>
            </a:r>
            <a:endParaRPr sz="1100">
              <a:solidFill>
                <a:schemeClr val="dk1"/>
              </a:solidFill>
            </a:endParaRPr>
          </a:p>
          <a:p>
            <a:pPr indent="0" lvl="0" marL="0" rtl="0" algn="l">
              <a:lnSpc>
                <a:spcPct val="115000"/>
              </a:lnSpc>
              <a:spcBef>
                <a:spcPts val="0"/>
              </a:spcBef>
              <a:spcAft>
                <a:spcPts val="0"/>
              </a:spcAft>
              <a:buSzPts val="1800"/>
              <a:buNone/>
            </a:pPr>
            <a:r>
              <a:rPr b="1" lang="en" sz="1100">
                <a:solidFill>
                  <a:schemeClr val="dk1"/>
                </a:solidFill>
              </a:rPr>
              <a:t>Adviser:</a:t>
            </a:r>
            <a:r>
              <a:rPr lang="en" sz="1100">
                <a:solidFill>
                  <a:schemeClr val="dk1"/>
                </a:solidFill>
              </a:rPr>
              <a:t> </a:t>
            </a:r>
            <a:r>
              <a:rPr i="0" lang="en" sz="1100">
                <a:solidFill>
                  <a:srgbClr val="1F2937"/>
                </a:solidFill>
              </a:rPr>
              <a:t>Skjoukje U. Jemoya</a:t>
            </a:r>
            <a:r>
              <a:rPr lang="en" sz="1100">
                <a:solidFill>
                  <a:schemeClr val="dk1"/>
                </a:solidFill>
              </a:rPr>
              <a:t/>
            </a:r>
            <a:endParaRPr sz="1100">
              <a:solidFill>
                <a:schemeClr val="dk1"/>
              </a:solidFill>
            </a:endParaRPr>
          </a:p>
          <a:p>
            <a:pPr indent="0" lvl="0" marL="0" rtl="0" algn="l">
              <a:lnSpc>
                <a:spcPct val="115000"/>
              </a:lnSpc>
              <a:spcBef>
                <a:spcPts val="1200"/>
              </a:spcBef>
              <a:spcAft>
                <a:spcPts val="1200"/>
              </a:spcAft>
              <a:buSzPts val="1800"/>
              <a:buNone/>
            </a:pPr>
            <a:r>
              <a:t/>
            </a:r>
            <a:endParaRPr sz="1100">
              <a:solidFill>
                <a:srgbClr val="000000"/>
              </a:solidFill>
            </a:endParaRPr>
          </a:p>
        </p:txBody>
      </p:sp>
      <p:sp>
        <p:nvSpPr>
          <p:cNvPr id="55" name="Google Shape;55;p1"/>
          <p:cNvSpPr txBox="1"/>
          <p:nvPr>
            <p:ph type="title"/>
          </p:nvPr>
        </p:nvSpPr>
        <p:spPr>
          <a:xfrm>
            <a:off x="1436700" y="320040"/>
            <a:ext cx="6270600" cy="914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700"/>
              <a:t>SAGIP: A Low-Cost, Solar-Powered Estero Guardian with On-Chip AI That Lifts Floating Plastic and Counts Every Item as Evidence for Producer Accountability</a:t>
            </a:r>
            <a:endParaRPr b="1" sz="2600"/>
          </a:p>
          <a:p>
            <a:pPr indent="0" lvl="0" marL="0" rtl="0" algn="ctr">
              <a:lnSpc>
                <a:spcPct val="100000"/>
              </a:lnSpc>
              <a:spcBef>
                <a:spcPts val="0"/>
              </a:spcBef>
              <a:spcAft>
                <a:spcPts val="0"/>
              </a:spcAft>
              <a:buSzPts val="2800"/>
              <a:buNone/>
            </a:pPr>
            <a:r>
              <a:rPr lang="en" sz="1100">
                <a:solidFill>
                  <a:srgbClr val="1F2937"/>
                </a:solidFill>
              </a:rPr>
              <a:t>Quezon City Science High School</a:t>
            </a:r>
            <a:endParaRPr sz="1100"/>
          </a:p>
        </p:txBody>
      </p:sp>
      <p:sp>
        <p:nvSpPr>
          <p:cNvPr id="56" name="Google Shape;56;p1"/>
          <p:cNvSpPr txBox="1"/>
          <p:nvPr>
            <p:ph idx="1" type="body"/>
          </p:nvPr>
        </p:nvSpPr>
        <p:spPr>
          <a:xfrm>
            <a:off x="1895550" y="1359867"/>
            <a:ext cx="5488800" cy="92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100">
                <a:solidFill>
                  <a:srgbClr val="000000"/>
                </a:solidFill>
              </a:rPr>
              <a:t>Chosen Theme: </a:t>
            </a:r>
            <a:r>
              <a:rPr lang="en" sz="1100">
                <a:solidFill>
                  <a:schemeClr val="accent3"/>
                </a:solidFill>
              </a:rPr>
              <a:t/>
            </a:r>
            <a:r>
              <a:rPr i="1" lang="en" sz="1100">
                <a:solidFill>
                  <a:schemeClr val="accent3"/>
                </a:solidFill>
              </a:rPr>
              <a:t/>
            </a:r>
            <a:r>
              <a:rPr lang="en" sz="1100">
                <a:solidFill>
                  <a:schemeClr val="accent3"/>
                </a:solidFill>
              </a:rPr>
              <a:t/>
            </a:r>
            <a:endParaRPr sz="1100">
              <a:solidFill>
                <a:schemeClr val="accent3"/>
              </a:solidFill>
            </a:endParaRPr>
          </a:p>
          <a:p>
            <a:pPr indent="0" lvl="0" marL="0" rtl="0" algn="l">
              <a:lnSpc>
                <a:spcPct val="100000"/>
              </a:lnSpc>
              <a:spcBef>
                <a:spcPts val="0"/>
              </a:spcBef>
              <a:spcAft>
                <a:spcPts val="0"/>
              </a:spcAft>
              <a:buSzPts val="1800"/>
              <a:buNone/>
            </a:pPr>
            <a:r>
              <a:rPr lang="en" sz="1100">
                <a:solidFill>
                  <a:srgbClr val="000000"/>
                </a:solidFill>
              </a:rPr>
              <a:t>Environmental Sustainability through Technology</a:t>
            </a:r>
            <a:endParaRPr sz="1100">
              <a:solidFill>
                <a:srgbClr val="000000"/>
              </a:solidFill>
            </a:endParaRPr>
          </a:p>
        </p:txBody>
      </p:sp>
      <p:sp>
        <p:nvSpPr>
          <p:cNvPr id="57" name="Google Shape;57;p1"/>
          <p:cNvSpPr txBox="1"/>
          <p:nvPr>
            <p:ph idx="1" type="body"/>
          </p:nvPr>
        </p:nvSpPr>
        <p:spPr>
          <a:xfrm>
            <a:off x="1234440" y="3611880"/>
            <a:ext cx="6675120" cy="128016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SzPts val="1800"/>
              <a:buNone/>
            </a:pPr>
            <a:br>
              <a:rPr lang="en" sz="1100">
                <a:solidFill>
                  <a:schemeClr val="accent3"/>
                </a:solidFill>
              </a:rPr>
            </a:br>
            <a:r>
              <a:rPr lang="en" sz="1000">
                <a:solidFill>
                  <a:schemeClr val="dk1"/>
                </a:solidFill>
              </a:rPr>
              <a:t>Our device is a low-cost, solar-powered unit in which a floating boom guides surface plastic toward the bank, a camera-triggered sweeper arm lifts it into a bin, and an ESP32-S3 camera running a tiny on-chip AI model counts each item by plastic type. Barangay officials receive a weekly offline report of what was removed and, where labels are legible, who produced it, with no images of people, plus a secondary water-level alert for impending channel blockage. Built from local and upcycled parts for about PHP 6,000 and tested against a hand-counted baseline, it adds anonymized records to an open dataset that other barangays can copy and extend.</a:t>
            </a:r>
            <a:endParaRPr i="1" sz="1100">
              <a:solidFill>
                <a:schemeClr val="accent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TextBox 61"/>
          <p:cNvSpPr txBox="1"/>
          <p:nvPr/>
        </p:nvSpPr>
        <p:spPr>
          <a:xfrm>
            <a:off x="365760" y="1417320"/>
            <a:ext cx="4160520" cy="3566160"/>
          </a:xfrm>
          <a:prstGeom prst="rect">
            <a:avLst/>
          </a:prstGeom>
          <a:noFill/>
        </p:spPr>
        <p:txBody>
          <a:bodyPr wrap="square" lIns="45720" rIns="45720" tIns="27432" bIns="27432">
            <a:spAutoFit/>
          </a:bodyPr>
          <a:lstStyle/>
          <a:p>
            <a:pPr>
              <a:lnSpc>
                <a:spcPct val="100000"/>
              </a:lnSpc>
              <a:spcBef>
                <a:spcPts val="700"/>
              </a:spcBef>
              <a:spcAft>
                <a:spcPts val="0"/>
              </a:spcAft>
            </a:pPr>
            <a:r>
              <a:rPr sz="1100" b="1" i="0">
                <a:solidFill>
                  <a:srgbClr val="0B5D8F"/>
                </a:solidFill>
                <a:latin typeface="Arial"/>
              </a:rPr>
              <a:t>1. What problem are we trying to solve?</a:t>
            </a:r>
          </a:p>
          <a:p>
            <a:pPr>
              <a:lnSpc>
                <a:spcPct val="100000"/>
              </a:lnSpc>
              <a:spcBef>
                <a:spcPts val="400"/>
              </a:spcBef>
              <a:spcAft>
                <a:spcPts val="0"/>
              </a:spcAft>
            </a:pPr>
            <a:r>
              <a:rPr sz="1100" b="0" i="0">
                <a:solidFill>
                  <a:srgbClr val="1F2937"/>
                </a:solidFill>
                <a:latin typeface="Arial"/>
              </a:rPr>
              <a:t>Plastic reaches the sea through creeks and esteros, and Philippine rivers rank among the largest sources of ocean plastic (Meijer et al., 2021). Cleanups weigh trash in bulk and record nothing about it. RA 11898 makes producers responsible for packaging, but brand audits are periodic, manual and mostly land-based (Break Free From Plastic, 2019).</a:t>
            </a:r>
          </a:p>
          <a:p>
            <a:pPr>
              <a:lnSpc>
                <a:spcPct val="100000"/>
              </a:lnSpc>
              <a:spcBef>
                <a:spcPts val="400"/>
              </a:spcBef>
              <a:spcAft>
                <a:spcPts val="0"/>
              </a:spcAft>
            </a:pPr>
            <a:r>
              <a:rPr sz="1100" b="1" i="0">
                <a:solidFill>
                  <a:srgbClr val="1F2937"/>
                </a:solidFill>
                <a:latin typeface="Arial"/>
              </a:rPr>
              <a:t>The gap:</a:t>
            </a:r>
            <a:r>
              <a:rPr sz="1100" b="0" i="0">
                <a:solidFill>
                  <a:srgbClr val="1F2937"/>
                </a:solidFill>
                <a:latin typeface="Arial"/>
              </a:rPr>
              <a:t> a continuous, low-cost record taken at the creek itself that one barangay can run. A blocked channel is a related hazard.</a:t>
            </a:r>
          </a:p>
          <a:p>
            <a:pPr>
              <a:lnSpc>
                <a:spcPct val="100000"/>
              </a:lnSpc>
              <a:spcBef>
                <a:spcPts val="700"/>
              </a:spcBef>
              <a:spcAft>
                <a:spcPts val="0"/>
              </a:spcAft>
            </a:pPr>
            <a:r>
              <a:rPr sz="1100" b="1" i="0">
                <a:solidFill>
                  <a:srgbClr val="0B5D8F"/>
                </a:solidFill>
                <a:latin typeface="Arial"/>
              </a:rPr>
              <a:t>3. Who will benefit from this project?</a:t>
            </a:r>
          </a:p>
          <a:p>
            <a:pPr>
              <a:lnSpc>
                <a:spcPct val="100000"/>
              </a:lnSpc>
              <a:spcBef>
                <a:spcPts val="400"/>
              </a:spcBef>
              <a:spcAft>
                <a:spcPts val="0"/>
              </a:spcAft>
            </a:pPr>
            <a:r>
              <a:rPr sz="1100" b="1" i="0">
                <a:solidFill>
                  <a:srgbClr val="1F2937"/>
                </a:solidFill>
                <a:latin typeface="Arial"/>
              </a:rPr>
              <a:t>Primary:</a:t>
            </a:r>
            <a:r>
              <a:rPr sz="1100" b="0" i="0">
                <a:solidFill>
                  <a:srgbClr val="1F2937"/>
                </a:solidFill>
                <a:latin typeface="Arial"/>
              </a:rPr>
              <a:t> the [N] households of [barangay and purok] along [estero] and the barangay sanitation officers. </a:t>
            </a:r>
            <a:r>
              <a:rPr sz="1100" b="1" i="0">
                <a:solidFill>
                  <a:srgbClr val="1F2937"/>
                </a:solidFill>
                <a:latin typeface="Arial"/>
              </a:rPr>
              <a:t>Secondary:</a:t>
            </a:r>
            <a:r>
              <a:rPr sz="1100" b="0" i="0">
                <a:solidFill>
                  <a:srgbClr val="1F2937"/>
                </a:solidFill>
                <a:latin typeface="Arial"/>
              </a:rPr>
              <a:t> the city solid-waste office and DENR, who need item-level evidence, 2+ more barangays or schools by March 2027, and downstream fisherfolk.</a:t>
            </a:r>
          </a:p>
        </p:txBody>
      </p:sp>
      <p:sp>
        <p:nvSpPr>
          <p:cNvPr id="63" name="TextBox 62"/>
          <p:cNvSpPr txBox="1"/>
          <p:nvPr/>
        </p:nvSpPr>
        <p:spPr>
          <a:xfrm>
            <a:off x="4663440" y="365760"/>
            <a:ext cx="4114800" cy="4572000"/>
          </a:xfrm>
          <a:prstGeom prst="rect">
            <a:avLst/>
          </a:prstGeom>
          <a:noFill/>
        </p:spPr>
        <p:txBody>
          <a:bodyPr wrap="square" lIns="45720" rIns="45720" tIns="27432" bIns="27432">
            <a:spAutoFit/>
          </a:bodyPr>
          <a:lstStyle/>
          <a:p>
            <a:pPr>
              <a:lnSpc>
                <a:spcPct val="100000"/>
              </a:lnSpc>
              <a:spcBef>
                <a:spcPts val="700"/>
              </a:spcBef>
              <a:spcAft>
                <a:spcPts val="0"/>
              </a:spcAft>
            </a:pPr>
            <a:r>
              <a:rPr sz="1100" b="1" i="0">
                <a:solidFill>
                  <a:srgbClr val="0B5D8F"/>
                </a:solidFill>
                <a:latin typeface="Arial"/>
              </a:rPr>
              <a:t>2. What do we want to achieve?</a:t>
            </a:r>
          </a:p>
          <a:p>
            <a:pPr>
              <a:lnSpc>
                <a:spcPct val="100000"/>
              </a:lnSpc>
              <a:spcBef>
                <a:spcPts val="400"/>
              </a:spcBef>
              <a:spcAft>
                <a:spcPts val="0"/>
              </a:spcAft>
            </a:pPr>
            <a:r>
              <a:rPr sz="1100" b="1" i="0">
                <a:solidFill>
                  <a:srgbClr val="1F2937"/>
                </a:solidFill>
                <a:latin typeface="Arial"/>
              </a:rPr>
              <a:t>Goal:</a:t>
            </a:r>
            <a:r>
              <a:rPr sz="1100" b="0" i="0">
                <a:solidFill>
                  <a:srgbClr val="1F2937"/>
                </a:solidFill>
                <a:latin typeface="Arial"/>
              </a:rPr>
              <a:t> make creek plastic measurable evidence instead of invisible waste, with cleaner creeks now and community-owned data that shifts the burden of proof to packaging producers.</a:t>
            </a:r>
          </a:p>
          <a:p>
            <a:pPr>
              <a:lnSpc>
                <a:spcPct val="100000"/>
              </a:lnSpc>
              <a:spcBef>
                <a:spcPts val="400"/>
              </a:spcBef>
              <a:spcAft>
                <a:spcPts val="0"/>
              </a:spcAft>
            </a:pPr>
            <a:r>
              <a:rPr sz="1100" b="1" i="0">
                <a:solidFill>
                  <a:srgbClr val="1F2937"/>
                </a:solidFill>
                <a:latin typeface="Arial"/>
              </a:rPr>
              <a:t>Objectives (SMART):</a:t>
            </a:r>
          </a:p>
          <a:p>
            <a:pPr>
              <a:lnSpc>
                <a:spcPct val="100000"/>
              </a:lnSpc>
              <a:spcBef>
                <a:spcPts val="400"/>
              </a:spcBef>
              <a:spcAft>
                <a:spcPts val="0"/>
              </a:spcAft>
            </a:pPr>
            <a:r>
              <a:rPr sz="1100" b="1" i="0">
                <a:solidFill>
                  <a:srgbClr val="1F2937"/>
                </a:solidFill>
                <a:latin typeface="Arial"/>
              </a:rPr>
              <a:t>1. Remove plastic.</a:t>
            </a:r>
            <a:r>
              <a:rPr sz="1100" b="0" i="0">
                <a:solidFill>
                  <a:srgbClr val="1F2937"/>
                </a:solidFill>
                <a:latin typeface="Arial"/>
              </a:rPr>
              <a:t> In an 8-week pilot from December 2026, lift at least [TARGET] kg of floating debris and capture at least [X]% of what reaches the boom, against a baseline week.</a:t>
            </a:r>
          </a:p>
          <a:p>
            <a:pPr>
              <a:lnSpc>
                <a:spcPct val="100000"/>
              </a:lnSpc>
              <a:spcBef>
                <a:spcPts val="400"/>
              </a:spcBef>
              <a:spcAft>
                <a:spcPts val="0"/>
              </a:spcAft>
            </a:pPr>
            <a:r>
              <a:rPr sz="1100" b="1" i="0">
                <a:solidFill>
                  <a:srgbClr val="1F2937"/>
                </a:solidFill>
                <a:latin typeface="Arial"/>
              </a:rPr>
              <a:t>2. Prove what it is.</a:t>
            </a:r>
            <a:r>
              <a:rPr sz="1100" b="0" i="0">
                <a:solidFill>
                  <a:srgbClr val="1F2937"/>
                </a:solidFill>
                <a:latin typeface="Arial"/>
              </a:rPr>
              <a:t> By Nov 20, reach 85% precision and recall on unseen photos, then keep weekly counts within 15% of a hand audit.</a:t>
            </a:r>
          </a:p>
          <a:p>
            <a:pPr>
              <a:lnSpc>
                <a:spcPct val="100000"/>
              </a:lnSpc>
              <a:spcBef>
                <a:spcPts val="400"/>
              </a:spcBef>
              <a:spcAft>
                <a:spcPts val="0"/>
              </a:spcAft>
            </a:pPr>
            <a:r>
              <a:rPr sz="1100" b="1" i="0">
                <a:solidFill>
                  <a:srgbClr val="1F2937"/>
                </a:solidFill>
                <a:latin typeface="Arial"/>
              </a:rPr>
              <a:t>3. Make it copyable.</a:t>
            </a:r>
            <a:r>
              <a:rPr sz="1100" b="0" i="0">
                <a:solidFill>
                  <a:srgbClr val="1F2937"/>
                </a:solidFill>
                <a:latin typeface="Arial"/>
              </a:rPr>
              <a:t> By March 2027, a free build guide in English and Filipino, an open dataset, and 2+ more barangays or schools building a unit for about PHP 6,000.</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TextBox 66"/>
          <p:cNvSpPr txBox="1"/>
          <p:nvPr/>
        </p:nvSpPr>
        <p:spPr>
          <a:xfrm>
            <a:off x="1463040" y="365760"/>
            <a:ext cx="7223760" cy="640080"/>
          </a:xfrm>
          <a:prstGeom prst="rect">
            <a:avLst/>
          </a:prstGeom>
          <a:noFill/>
        </p:spPr>
        <p:txBody>
          <a:bodyPr wrap="square" anchor="ctr">
            <a:spAutoFit/>
          </a:bodyPr>
          <a:lstStyle/>
          <a:p>
            <a:r>
              <a:rPr sz="1400" b="1" i="0">
                <a:solidFill>
                  <a:srgbClr val="0B5D8F"/>
                </a:solidFill>
                <a:latin typeface="Arial"/>
              </a:rPr>
              <a:t>4. How did we come up with this proposal?</a:t>
            </a:r>
          </a:p>
        </p:txBody>
      </p:sp>
      <p:sp>
        <p:nvSpPr>
          <p:cNvPr id="68" name="TextBox 67"/>
          <p:cNvSpPr txBox="1"/>
          <p:nvPr/>
        </p:nvSpPr>
        <p:spPr>
          <a:xfrm>
            <a:off x="457200" y="1417320"/>
            <a:ext cx="8229600" cy="3566160"/>
          </a:xfrm>
          <a:prstGeom prst="rect">
            <a:avLst/>
          </a:prstGeom>
          <a:noFill/>
        </p:spPr>
        <p:txBody>
          <a:bodyPr wrap="square" lIns="45720" rIns="45720" tIns="27432" bIns="27432">
            <a:spAutoFit/>
          </a:bodyPr>
          <a:lstStyle/>
          <a:p>
            <a:pPr>
              <a:lnSpc>
                <a:spcPct val="100000"/>
              </a:lnSpc>
              <a:spcBef>
                <a:spcPts val="400"/>
              </a:spcBef>
              <a:spcAft>
                <a:spcPts val="0"/>
              </a:spcAft>
            </a:pPr>
            <a:r>
              <a:rPr sz="1100" b="1" i="0">
                <a:solidFill>
                  <a:srgbClr val="1F2937"/>
                </a:solidFill>
                <a:latin typeface="Arial"/>
              </a:rPr>
              <a:t>Select.</a:t>
            </a:r>
            <a:r>
              <a:rPr sz="1100" b="0" i="0">
                <a:solidFill>
                  <a:srgbClr val="1F2937"/>
                </a:solidFill>
                <a:latin typeface="Arial"/>
              </a:rPr>
              <a:t> We scored five community problems on significance, feasibility, STEM depth, replicability and originality. Creek plastic won. We can reach a creek, measure it weekly, and RA 11898 has just made item-level data useful. [Edit to match your process.]</a:t>
            </a:r>
          </a:p>
          <a:p>
            <a:pPr>
              <a:lnSpc>
                <a:spcPct val="100000"/>
              </a:lnSpc>
              <a:spcBef>
                <a:spcPts val="400"/>
              </a:spcBef>
              <a:spcAft>
                <a:spcPts val="0"/>
              </a:spcAft>
            </a:pPr>
            <a:r>
              <a:rPr sz="1100" b="1" i="0">
                <a:solidFill>
                  <a:srgbClr val="1F2937"/>
                </a:solidFill>
                <a:latin typeface="Arial"/>
              </a:rPr>
              <a:t>What exists.</a:t>
            </a:r>
            <a:r>
              <a:rPr sz="1100" b="0" i="0">
                <a:solidFill>
                  <a:srgbClr val="1F2937"/>
                </a:solidFill>
                <a:latin typeface="Arial"/>
              </a:rPr>
              <a:t> Cameras with deep learning count floating plastic from bridges but remove nothing (van Lieshout et al., 2020). Low-cost robotic boats detect and collect plastic but need radio, charging and an operator (HydroSentinel, 2026). Estero trash traps remove plastic at scale but record bulk weight only (Manila Bulletin, 2026). Brand audits name the companies but are periodic and manual (Break Free From Plastic, 2019).</a:t>
            </a:r>
          </a:p>
          <a:p>
            <a:pPr>
              <a:lnSpc>
                <a:spcPct val="100000"/>
              </a:lnSpc>
              <a:spcBef>
                <a:spcPts val="400"/>
              </a:spcBef>
              <a:spcAft>
                <a:spcPts val="0"/>
              </a:spcAft>
            </a:pPr>
            <a:r>
              <a:rPr sz="1100" b="1" i="0">
                <a:solidFill>
                  <a:srgbClr val="1F2937"/>
                </a:solidFill>
                <a:latin typeface="Arial"/>
              </a:rPr>
              <a:t>Gap we test.</a:t>
            </a:r>
            <a:r>
              <a:rPr sz="1100" b="0" i="0">
                <a:solidFill>
                  <a:srgbClr val="1F2937"/>
                </a:solidFill>
                <a:latin typeface="Arial"/>
              </a:rPr>
              <a:t> None of these lifts, counts and shares open data in a unit a barangay can afford. Our search was limited. We ask: can a PHP 6,000 on-chip counter match a trained hand audit within 15%, and does continuous counting reveal rain-driven pulses of plastic that weekly audits miss?</a:t>
            </a:r>
          </a:p>
          <a:p>
            <a:pPr>
              <a:lnSpc>
                <a:spcPct val="100000"/>
              </a:lnSpc>
              <a:spcBef>
                <a:spcPts val="400"/>
              </a:spcBef>
              <a:spcAft>
                <a:spcPts val="0"/>
              </a:spcAft>
            </a:pPr>
            <a:r>
              <a:rPr sz="1100" b="1" i="0">
                <a:solidFill>
                  <a:srgbClr val="1F2937"/>
                </a:solidFill>
                <a:latin typeface="Arial"/>
              </a:rPr>
              <a:t>Sources:</a:t>
            </a:r>
            <a:r>
              <a:rPr sz="1100" b="0" i="0">
                <a:solidFill>
                  <a:srgbClr val="1F2937"/>
                </a:solidFill>
                <a:latin typeface="Arial"/>
              </a:rPr>
              <a:t> Break Free From Plastic 2019; HydroSentinel 2026 (ScienceDirect); Manila Bulletin 2026; Meijer 2021 (Science Advances); RA 11898; van Lieshout 2020 (Earth and Space Science).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TextBox 71"/>
          <p:cNvSpPr txBox="1"/>
          <p:nvPr/>
        </p:nvSpPr>
        <p:spPr>
          <a:xfrm>
            <a:off x="1463040" y="365760"/>
            <a:ext cx="7223760" cy="640080"/>
          </a:xfrm>
          <a:prstGeom prst="rect">
            <a:avLst/>
          </a:prstGeom>
          <a:noFill/>
        </p:spPr>
        <p:txBody>
          <a:bodyPr wrap="square" anchor="ctr">
            <a:spAutoFit/>
          </a:bodyPr>
          <a:lstStyle/>
          <a:p>
            <a:r>
              <a:rPr sz="1400" b="1" i="0">
                <a:solidFill>
                  <a:srgbClr val="0B5D8F"/>
                </a:solidFill>
                <a:latin typeface="Arial"/>
              </a:rPr>
              <a:t>5. How will this tech solution work?</a:t>
            </a:r>
          </a:p>
        </p:txBody>
      </p:sp>
      <p:sp>
        <p:nvSpPr>
          <p:cNvPr id="74" name="TextBox 73"/>
          <p:cNvSpPr txBox="1"/>
          <p:nvPr/>
        </p:nvSpPr>
        <p:spPr>
          <a:xfrm>
            <a:off x="274320" y="4153818"/>
            <a:ext cx="4663440" cy="1097280"/>
          </a:xfrm>
          <a:prstGeom prst="rect">
            <a:avLst/>
          </a:prstGeom>
          <a:noFill/>
        </p:spPr>
        <p:txBody>
          <a:bodyPr wrap="square" lIns="45720" rIns="45720" tIns="27432" bIns="27432">
            <a:spAutoFit/>
          </a:bodyPr>
          <a:lstStyle/>
          <a:p>
            <a:pPr>
              <a:lnSpc>
                <a:spcPct val="100000"/>
              </a:lnSpc>
              <a:spcBef>
                <a:spcPts val="400"/>
              </a:spcBef>
              <a:spcAft>
                <a:spcPts val="0"/>
              </a:spcAft>
            </a:pPr>
            <a:r>
              <a:rPr sz="1100" b="1" i="0">
                <a:solidFill>
                  <a:srgbClr val="1F2937"/>
                </a:solidFill>
                <a:latin typeface="Arial"/>
              </a:rPr>
              <a:t>In plain words:</a:t>
            </a:r>
            <a:r>
              <a:rPr sz="1100" b="0" i="0">
                <a:solidFill>
                  <a:srgbClr val="1F2937"/>
                </a:solidFill>
                <a:latin typeface="Arial"/>
              </a:rPr>
              <a:t> the model is the skill of a sanitation worker who can tell a PET bottle from a sachet at a glance, saved as a file of numbers. </a:t>
            </a:r>
            <a:r>
              <a:rPr sz="1100" b="1" i="0">
                <a:solidFill>
                  <a:srgbClr val="1F2937"/>
                </a:solidFill>
                <a:latin typeface="Arial"/>
              </a:rPr>
              <a:t>Quantization</a:t>
            </a:r>
            <a:r>
              <a:rPr sz="1100" b="0" i="0">
                <a:solidFill>
                  <a:srgbClr val="1F2937"/>
                </a:solidFill>
                <a:latin typeface="Arial"/>
              </a:rPr>
              <a:t> rounds the numbers like a gradebook (87, not 87.3416), so the file fits the chip. No internet is needed.</a:t>
            </a:r>
          </a:p>
        </p:txBody>
      </p:sp>
      <p:sp>
        <p:nvSpPr>
          <p:cNvPr id="75" name="TextBox 74"/>
          <p:cNvSpPr txBox="1"/>
          <p:nvPr/>
        </p:nvSpPr>
        <p:spPr>
          <a:xfrm>
            <a:off x="4983480" y="1005840"/>
            <a:ext cx="3840480" cy="3931920"/>
          </a:xfrm>
          <a:prstGeom prst="rect">
            <a:avLst/>
          </a:prstGeom>
          <a:noFill/>
        </p:spPr>
        <p:txBody>
          <a:bodyPr wrap="square" lIns="45720" rIns="45720" tIns="27432" bIns="27432">
            <a:spAutoFit/>
          </a:bodyPr>
          <a:lstStyle/>
          <a:p>
            <a:pPr>
              <a:lnSpc>
                <a:spcPct val="100000"/>
              </a:lnSpc>
              <a:spcBef>
                <a:spcPts val="400"/>
              </a:spcBef>
              <a:spcAft>
                <a:spcPts val="0"/>
              </a:spcAft>
            </a:pPr>
            <a:r>
              <a:rPr sz="1100" b="1" i="0">
                <a:solidFill>
                  <a:srgbClr val="1F2937"/>
                </a:solidFill>
                <a:latin typeface="Arial"/>
              </a:rPr>
              <a:t>Trap:</a:t>
            </a:r>
            <a:r>
              <a:rPr sz="1100" b="0" i="0">
                <a:solidFill>
                  <a:srgbClr val="1F2937"/>
                </a:solidFill>
                <a:latin typeface="Arial"/>
              </a:rPr>
              <a:t> a boom of reused bottles guides plastic to a bar screen. The current does the herding, and a wide-gapped deflector lets hyacinth mats pass.</a:t>
            </a:r>
          </a:p>
          <a:p>
            <a:pPr>
              <a:lnSpc>
                <a:spcPct val="100000"/>
              </a:lnSpc>
              <a:spcBef>
                <a:spcPts val="400"/>
              </a:spcBef>
              <a:spcAft>
                <a:spcPts val="0"/>
              </a:spcAft>
            </a:pPr>
            <a:r>
              <a:rPr sz="1100" b="1" i="0">
                <a:solidFill>
                  <a:srgbClr val="1F2937"/>
                </a:solidFill>
                <a:latin typeface="Arial"/>
              </a:rPr>
              <a:t>Lift:</a:t>
            </a:r>
            <a:r>
              <a:rPr sz="1100" b="0" i="0">
                <a:solidFill>
                  <a:srgbClr val="1F2937"/>
                </a:solidFill>
                <a:latin typeface="Arial"/>
              </a:rPr>
              <a:t> a camera-triggered arm sweeps debris up a ramp into a bin. A shear pin protects the gearbox, and current and Hall sensors stop jams, with at most three retries.</a:t>
            </a:r>
          </a:p>
          <a:p>
            <a:pPr>
              <a:lnSpc>
                <a:spcPct val="100000"/>
              </a:lnSpc>
              <a:spcBef>
                <a:spcPts val="400"/>
              </a:spcBef>
              <a:spcAft>
                <a:spcPts val="0"/>
              </a:spcAft>
            </a:pPr>
            <a:r>
              <a:rPr sz="1100" b="1" i="0">
                <a:solidFill>
                  <a:srgbClr val="1F2937"/>
                </a:solidFill>
                <a:latin typeface="Arial"/>
              </a:rPr>
              <a:t>Count:</a:t>
            </a:r>
            <a:r>
              <a:rPr sz="1100" b="0" i="0">
                <a:solidFill>
                  <a:srgbClr val="1F2937"/>
                </a:solidFill>
                <a:latin typeface="Arial"/>
              </a:rPr>
              <a:t> an ESP32-S3 camera looks down at the water only, and an INT8 model classifies each item on the chip. Weekly hand counts check it.</a:t>
            </a:r>
          </a:p>
          <a:p>
            <a:pPr>
              <a:lnSpc>
                <a:spcPct val="100000"/>
              </a:lnSpc>
              <a:spcBef>
                <a:spcPts val="400"/>
              </a:spcBef>
              <a:spcAft>
                <a:spcPts val="0"/>
              </a:spcAft>
            </a:pPr>
            <a:r>
              <a:rPr sz="1100" b="1" i="0">
                <a:solidFill>
                  <a:srgbClr val="1F2937"/>
                </a:solidFill>
                <a:latin typeface="Arial"/>
              </a:rPr>
              <a:t>Report:</a:t>
            </a:r>
            <a:r>
              <a:rPr sz="1100" b="0" i="0">
                <a:solidFill>
                  <a:srgbClr val="1F2937"/>
                </a:solidFill>
                <a:latin typeface="Arial"/>
              </a:rPr>
              <a:t> an offline Wi-Fi page gives the barangay a weekly report and an open dataset.</a:t>
            </a:r>
          </a:p>
          <a:p>
            <a:pPr>
              <a:lnSpc>
                <a:spcPct val="100000"/>
              </a:lnSpc>
              <a:spcBef>
                <a:spcPts val="400"/>
              </a:spcBef>
              <a:spcAft>
                <a:spcPts val="0"/>
              </a:spcAft>
            </a:pPr>
            <a:r>
              <a:rPr sz="1100" b="1" i="0">
                <a:solidFill>
                  <a:srgbClr val="1F2937"/>
                </a:solidFill>
                <a:latin typeface="Arial"/>
              </a:rPr>
              <a:t>Warn (secondary):</a:t>
            </a:r>
            <a:r>
              <a:rPr sz="1100" b="0" i="0">
                <a:solidFill>
                  <a:srgbClr val="1F2937"/>
                </a:solidFill>
                <a:latin typeface="Arial"/>
              </a:rPr>
              <a:t> an ultrasonic sensor logs the water level and alerts before a blockage.</a:t>
            </a:r>
          </a:p>
          <a:p>
            <a:pPr>
              <a:lnSpc>
                <a:spcPct val="100000"/>
              </a:lnSpc>
              <a:spcBef>
                <a:spcPts val="400"/>
              </a:spcBef>
              <a:spcAft>
                <a:spcPts val="0"/>
              </a:spcAft>
            </a:pPr>
            <a:r>
              <a:rPr sz="1100" b="1" i="0">
                <a:solidFill>
                  <a:srgbClr val="1F2937"/>
                </a:solidFill>
                <a:latin typeface="Arial"/>
              </a:rPr>
              <a:t>STEM:</a:t>
            </a:r>
            <a:r>
              <a:rPr sz="1100" b="0" i="0">
                <a:solidFill>
                  <a:srgbClr val="1F2937"/>
                </a:solidFill>
                <a:latin typeface="Arial"/>
              </a:rPr>
              <a:t> buoyancy and torque, a solar energy budget, precision and recall, and a quantized AI model.</a:t>
            </a:r>
          </a:p>
        </p:txBody>
      </p:sp>
      <p:pic>
        <p:nvPicPr>
          <p:cNvPr id="76" name="Picture 75" descr="fig1_v5.png"/>
          <p:cNvPicPr>
            <a:picLocks noChangeAspect="1"/>
          </p:cNvPicPr>
          <p:nvPr/>
        </p:nvPicPr>
        <p:blipFill>
          <a:blip r:embed="rId5"/>
          <a:stretch>
            <a:fillRect/>
          </a:stretch>
        </p:blipFill>
        <p:spPr>
          <a:xfrm>
            <a:off x="274320" y="1325880"/>
            <a:ext cx="4572000" cy="25877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TextBox 76"/>
          <p:cNvSpPr txBox="1"/>
          <p:nvPr/>
        </p:nvSpPr>
        <p:spPr>
          <a:xfrm>
            <a:off x="1463040" y="365760"/>
            <a:ext cx="7223760" cy="640080"/>
          </a:xfrm>
          <a:prstGeom prst="rect">
            <a:avLst/>
          </a:prstGeom>
          <a:noFill/>
        </p:spPr>
        <p:txBody>
          <a:bodyPr wrap="square" anchor="ctr">
            <a:spAutoFit/>
          </a:bodyPr>
          <a:lstStyle/>
          <a:p>
            <a:r>
              <a:rPr sz="1400" b="1" i="0">
                <a:solidFill>
                  <a:srgbClr val="0B5D8F"/>
                </a:solidFill>
                <a:latin typeface="Arial"/>
              </a:rPr>
              <a:t>6. How do we implement this?</a:t>
            </a:r>
          </a:p>
        </p:txBody>
      </p:sp>
      <p:sp>
        <p:nvSpPr>
          <p:cNvPr id="78" name="TextBox 77"/>
          <p:cNvSpPr txBox="1"/>
          <p:nvPr/>
        </p:nvSpPr>
        <p:spPr>
          <a:xfrm>
            <a:off x="365760" y="1417320"/>
            <a:ext cx="2788920" cy="3566160"/>
          </a:xfrm>
          <a:prstGeom prst="rect">
            <a:avLst/>
          </a:prstGeom>
          <a:noFill/>
        </p:spPr>
        <p:txBody>
          <a:bodyPr wrap="square" lIns="45720" rIns="45720" tIns="27432" bIns="27432">
            <a:spAutoFit/>
          </a:bodyPr>
          <a:lstStyle/>
          <a:p>
            <a:pPr>
              <a:lnSpc>
                <a:spcPct val="100000"/>
              </a:lnSpc>
              <a:spcBef>
                <a:spcPts val="700"/>
              </a:spcBef>
              <a:spcAft>
                <a:spcPts val="0"/>
              </a:spcAft>
            </a:pPr>
            <a:r>
              <a:rPr sz="1100" b="1" i="0">
                <a:solidFill>
                  <a:srgbClr val="0B5D8F"/>
                </a:solidFill>
                <a:latin typeface="Arial"/>
              </a:rPr>
              <a:t>Resources</a:t>
            </a:r>
          </a:p>
          <a:p>
            <a:pPr>
              <a:lnSpc>
                <a:spcPct val="100000"/>
              </a:lnSpc>
              <a:spcBef>
                <a:spcPts val="400"/>
              </a:spcBef>
              <a:spcAft>
                <a:spcPts val="0"/>
              </a:spcAft>
            </a:pPr>
            <a:r>
              <a:rPr sz="1100" b="1" i="0">
                <a:solidFill>
                  <a:srgbClr val="1F2937"/>
                </a:solidFill>
                <a:latin typeface="Arial"/>
              </a:rPr>
              <a:t>Pilot unit: about PHP 6,000</a:t>
            </a:r>
            <a:r>
              <a:rPr sz="1100" b="0" i="0">
                <a:solidFill>
                  <a:srgbClr val="1F2937"/>
                </a:solidFill>
                <a:latin typeface="Arial"/>
              </a:rPr>
              <a:t> (ESP32-S3 camera 1,300, microSD 200, box 300, solar panel 600, charger and cells 700, boom and post 800, bin 150, wiring 250, level sensor 350, motor and driver 700, sensing 150, ramp and arm 150, contingency 350). Estimates to confirm.</a:t>
            </a:r>
          </a:p>
          <a:p>
            <a:pPr>
              <a:lnSpc>
                <a:spcPct val="100000"/>
              </a:lnSpc>
              <a:spcBef>
                <a:spcPts val="400"/>
              </a:spcBef>
              <a:spcAft>
                <a:spcPts val="0"/>
              </a:spcAft>
            </a:pPr>
            <a:r>
              <a:rPr sz="1100" b="1" i="0">
                <a:solidFill>
                  <a:srgbClr val="1F2937"/>
                </a:solidFill>
                <a:latin typeface="Arial"/>
              </a:rPr>
              <a:t>Stages:</a:t>
            </a:r>
            <a:r>
              <a:rPr sz="1100" b="0" i="0">
                <a:solidFill>
                  <a:srgbClr val="1F2937"/>
                </a:solidFill>
                <a:latin typeface="Arial"/>
              </a:rPr>
              <a:t> bench 1,800, passive trap 2,500, arm and sensor 1,350, each bought after a test passes.</a:t>
            </a:r>
          </a:p>
          <a:p>
            <a:pPr>
              <a:lnSpc>
                <a:spcPct val="100000"/>
              </a:lnSpc>
              <a:spcBef>
                <a:spcPts val="400"/>
              </a:spcBef>
              <a:spcAft>
                <a:spcPts val="0"/>
              </a:spcAft>
            </a:pPr>
            <a:r>
              <a:rPr sz="1100" b="1" i="0">
                <a:solidFill>
                  <a:srgbClr val="1F2937"/>
                </a:solidFill>
                <a:latin typeface="Arial"/>
              </a:rPr>
              <a:t>Timeline:</a:t>
            </a:r>
            <a:r>
              <a:rPr sz="1100" b="0" i="0">
                <a:solidFill>
                  <a:srgbClr val="1F2937"/>
                </a:solidFill>
                <a:latin typeface="Arial"/>
              </a:rPr>
              <a:t> site visit and baseline by Nov 2, model by Nov 20, results Dec 7, pilot Dec to Feb, build guide by March.</a:t>
            </a:r>
          </a:p>
        </p:txBody>
      </p:sp>
      <p:sp>
        <p:nvSpPr>
          <p:cNvPr id="79" name="TextBox 78"/>
          <p:cNvSpPr txBox="1"/>
          <p:nvPr/>
        </p:nvSpPr>
        <p:spPr>
          <a:xfrm>
            <a:off x="3246120" y="1005840"/>
            <a:ext cx="2743200" cy="3931920"/>
          </a:xfrm>
          <a:prstGeom prst="rect">
            <a:avLst/>
          </a:prstGeom>
          <a:noFill/>
        </p:spPr>
        <p:txBody>
          <a:bodyPr wrap="square" lIns="45720" rIns="45720" tIns="27432" bIns="27432">
            <a:spAutoFit/>
          </a:bodyPr>
          <a:lstStyle/>
          <a:p>
            <a:pPr>
              <a:lnSpc>
                <a:spcPct val="100000"/>
              </a:lnSpc>
              <a:spcBef>
                <a:spcPts val="700"/>
              </a:spcBef>
              <a:spcAft>
                <a:spcPts val="0"/>
              </a:spcAft>
            </a:pPr>
            <a:r>
              <a:rPr sz="1100" b="1" i="0">
                <a:solidFill>
                  <a:srgbClr val="0B5D8F"/>
                </a:solidFill>
                <a:latin typeface="Arial"/>
              </a:rPr>
              <a:t>Stakeholders</a:t>
            </a:r>
          </a:p>
          <a:p>
            <a:pPr>
              <a:lnSpc>
                <a:spcPct val="100000"/>
              </a:lnSpc>
              <a:spcBef>
                <a:spcPts val="400"/>
              </a:spcBef>
              <a:spcAft>
                <a:spcPts val="0"/>
              </a:spcAft>
            </a:pPr>
            <a:r>
              <a:rPr sz="1100" b="1" i="0">
                <a:solidFill>
                  <a:srgbClr val="1F2937"/>
                </a:solidFill>
                <a:latin typeface="Arial"/>
              </a:rPr>
              <a:t>Barangay captain and sanitation officers:</a:t>
            </a:r>
            <a:r>
              <a:rPr sz="1100" b="0" i="0">
                <a:solidFill>
                  <a:srgbClr val="1F2937"/>
                </a:solidFill>
                <a:latin typeface="Arial"/>
              </a:rPr>
              <a:t> site approval, weekly emptying, and use of reports under a one-page maintenance agreement. </a:t>
            </a:r>
            <a:r>
              <a:rPr sz="1100" b="1" i="0">
                <a:solidFill>
                  <a:srgbClr val="1F2937"/>
                </a:solidFill>
                <a:latin typeface="Arial"/>
              </a:rPr>
              <a:t>City solid-waste office and DENR:</a:t>
            </a:r>
            <a:r>
              <a:rPr sz="1100" b="0" i="0">
                <a:solidFill>
                  <a:srgbClr val="1F2937"/>
                </a:solidFill>
                <a:latin typeface="Arial"/>
              </a:rPr>
              <a:t> use the data. </a:t>
            </a:r>
            <a:r>
              <a:rPr sz="1100" b="1" i="0">
                <a:solidFill>
                  <a:srgbClr val="1F2937"/>
                </a:solidFill>
                <a:latin typeface="Arial"/>
              </a:rPr>
              <a:t>Adviser and school head:</a:t>
            </a:r>
            <a:r>
              <a:rPr sz="1100" b="0" i="0">
                <a:solidFill>
                  <a:srgbClr val="1F2937"/>
                </a:solidFill>
                <a:latin typeface="Arial"/>
              </a:rPr>
              <a:t> supervision and safety sign-off. </a:t>
            </a:r>
            <a:r>
              <a:rPr sz="1100" b="1" i="0">
                <a:solidFill>
                  <a:srgbClr val="1F2937"/>
                </a:solidFill>
                <a:latin typeface="Arial"/>
              </a:rPr>
              <a:t>Students:</a:t>
            </a:r>
            <a:r>
              <a:rPr sz="1100" b="0" i="0">
                <a:solidFill>
                  <a:srgbClr val="1F2937"/>
                </a:solidFill>
                <a:latin typeface="Arial"/>
              </a:rPr>
              <a:t> build, label, count and report. </a:t>
            </a:r>
            <a:r>
              <a:rPr sz="1100" b="1" i="0">
                <a:solidFill>
                  <a:srgbClr val="1F2937"/>
                </a:solidFill>
                <a:latin typeface="Arial"/>
              </a:rPr>
              <a:t>Residents:</a:t>
            </a:r>
            <a:r>
              <a:rPr sz="1100" b="0" i="0">
                <a:solidFill>
                  <a:srgbClr val="1F2937"/>
                </a:solidFill>
                <a:latin typeface="Arial"/>
              </a:rPr>
              <a:t> consent and a clear site.</a:t>
            </a:r>
          </a:p>
        </p:txBody>
      </p:sp>
      <p:sp>
        <p:nvSpPr>
          <p:cNvPr id="80" name="TextBox 79"/>
          <p:cNvSpPr txBox="1"/>
          <p:nvPr/>
        </p:nvSpPr>
        <p:spPr>
          <a:xfrm>
            <a:off x="6080760" y="1005840"/>
            <a:ext cx="2743200" cy="3931920"/>
          </a:xfrm>
          <a:prstGeom prst="rect">
            <a:avLst/>
          </a:prstGeom>
          <a:noFill/>
        </p:spPr>
        <p:txBody>
          <a:bodyPr wrap="square" lIns="45720" rIns="45720" tIns="27432" bIns="27432">
            <a:spAutoFit/>
          </a:bodyPr>
          <a:lstStyle/>
          <a:p>
            <a:pPr>
              <a:lnSpc>
                <a:spcPct val="100000"/>
              </a:lnSpc>
              <a:spcBef>
                <a:spcPts val="700"/>
              </a:spcBef>
              <a:spcAft>
                <a:spcPts val="0"/>
              </a:spcAft>
            </a:pPr>
            <a:r>
              <a:rPr sz="1100" b="1" i="0">
                <a:solidFill>
                  <a:srgbClr val="0B5D8F"/>
                </a:solidFill>
                <a:latin typeface="Arial"/>
              </a:rPr>
              <a:t>Risks and mitigation</a:t>
            </a:r>
          </a:p>
          <a:p>
            <a:pPr>
              <a:lnSpc>
                <a:spcPct val="100000"/>
              </a:lnSpc>
              <a:spcBef>
                <a:spcPts val="400"/>
              </a:spcBef>
              <a:spcAft>
                <a:spcPts val="0"/>
              </a:spcAft>
            </a:pPr>
            <a:r>
              <a:rPr sz="1100" b="1" i="0">
                <a:solidFill>
                  <a:srgbClr val="1F2937"/>
                </a:solidFill>
                <a:latin typeface="Arial"/>
              </a:rPr>
              <a:t>Hyacinth mats:</a:t>
            </a:r>
            <a:r>
              <a:rPr sz="1100" b="0" i="0">
                <a:solidFill>
                  <a:srgbClr val="1F2937"/>
                </a:solidFill>
                <a:latin typeface="Arial"/>
              </a:rPr>
              <a:t> deflector, a vegetation class that stops the arm, daily screen clearing.</a:t>
            </a:r>
          </a:p>
          <a:p>
            <a:pPr>
              <a:lnSpc>
                <a:spcPct val="100000"/>
              </a:lnSpc>
              <a:spcBef>
                <a:spcPts val="400"/>
              </a:spcBef>
              <a:spcAft>
                <a:spcPts val="0"/>
              </a:spcAft>
            </a:pPr>
            <a:r>
              <a:rPr sz="1100" b="1" i="0">
                <a:solidFill>
                  <a:srgbClr val="1F2937"/>
                </a:solidFill>
                <a:latin typeface="Arial"/>
              </a:rPr>
              <a:t>Jams and burnout:</a:t>
            </a:r>
            <a:r>
              <a:rPr sz="1100" b="0" i="0">
                <a:solidFill>
                  <a:srgbClr val="1F2937"/>
                </a:solidFill>
                <a:latin typeface="Arial"/>
              </a:rPr>
              <a:t> shear pin, current and Hall sensing, three retries, driver off by default.</a:t>
            </a:r>
          </a:p>
          <a:p>
            <a:pPr>
              <a:lnSpc>
                <a:spcPct val="100000"/>
              </a:lnSpc>
              <a:spcBef>
                <a:spcPts val="400"/>
              </a:spcBef>
              <a:spcAft>
                <a:spcPts val="0"/>
              </a:spcAft>
            </a:pPr>
            <a:r>
              <a:rPr sz="1100" b="1" i="0">
                <a:solidFill>
                  <a:srgbClr val="1F2937"/>
                </a:solidFill>
                <a:latin typeface="Arial"/>
              </a:rPr>
              <a:t>Oil and silt:</a:t>
            </a:r>
            <a:r>
              <a:rPr sz="1100" b="0" i="0">
                <a:solidFill>
                  <a:srgbClr val="1F2937"/>
                </a:solidFill>
                <a:latin typeface="Arial"/>
              </a:rPr>
              <a:t> motor mounted high, sealed bearings, hooded lens.</a:t>
            </a:r>
          </a:p>
          <a:p>
            <a:pPr>
              <a:lnSpc>
                <a:spcPct val="100000"/>
              </a:lnSpc>
              <a:spcBef>
                <a:spcPts val="400"/>
              </a:spcBef>
              <a:spcAft>
                <a:spcPts val="0"/>
              </a:spcAft>
            </a:pPr>
            <a:r>
              <a:rPr sz="1100" b="1" i="0">
                <a:solidFill>
                  <a:srgbClr val="1F2937"/>
                </a:solidFill>
                <a:latin typeface="Arial"/>
              </a:rPr>
              <a:t>Model errors:</a:t>
            </a:r>
            <a:r>
              <a:rPr sz="1100" b="0" i="0">
                <a:solidFill>
                  <a:srgbClr val="1F2937"/>
                </a:solidFill>
                <a:latin typeface="Arial"/>
              </a:rPr>
              <a:t> test on unseen places, keep the hand count.</a:t>
            </a:r>
          </a:p>
          <a:p>
            <a:pPr>
              <a:lnSpc>
                <a:spcPct val="100000"/>
              </a:lnSpc>
              <a:spcBef>
                <a:spcPts val="400"/>
              </a:spcBef>
              <a:spcAft>
                <a:spcPts val="0"/>
              </a:spcAft>
            </a:pPr>
            <a:r>
              <a:rPr sz="1100" b="1" i="0">
                <a:solidFill>
                  <a:srgbClr val="1F2937"/>
                </a:solidFill>
                <a:latin typeface="Arial"/>
              </a:rPr>
              <a:t>Arm fails:</a:t>
            </a:r>
            <a:r>
              <a:rPr sz="1100" b="0" i="0">
                <a:solidFill>
                  <a:srgbClr val="1F2937"/>
                </a:solidFill>
                <a:latin typeface="Arial"/>
              </a:rPr>
              <a:t> boom, bin and camera still work, so the data pilot survives.</a:t>
            </a:r>
          </a:p>
          <a:p>
            <a:pPr>
              <a:lnSpc>
                <a:spcPct val="100000"/>
              </a:lnSpc>
              <a:spcBef>
                <a:spcPts val="400"/>
              </a:spcBef>
              <a:spcAft>
                <a:spcPts val="0"/>
              </a:spcAft>
            </a:pPr>
            <a:r>
              <a:rPr sz="1100" b="1" i="0">
                <a:solidFill>
                  <a:srgbClr val="1F2937"/>
                </a:solidFill>
                <a:latin typeface="Arial"/>
              </a:rPr>
              <a:t>Safety, privacy:</a:t>
            </a:r>
            <a:r>
              <a:rPr sz="1100" b="0" i="0">
                <a:solidFill>
                  <a:srgbClr val="1F2937"/>
                </a:solidFill>
                <a:latin typeface="Arial"/>
              </a:rPr>
              <a:t> no student enters the water, guarded arm, camera sees water only.</a:t>
            </a:r>
          </a:p>
          <a:p>
            <a:pPr>
              <a:lnSpc>
                <a:spcPct val="100000"/>
              </a:lnSpc>
              <a:spcBef>
                <a:spcPts val="400"/>
              </a:spcBef>
              <a:spcAft>
                <a:spcPts val="0"/>
              </a:spcAft>
            </a:pPr>
            <a:r>
              <a:rPr sz="1100" b="1" i="0">
                <a:solidFill>
                  <a:srgbClr val="1F2937"/>
                </a:solidFill>
                <a:latin typeface="Arial"/>
              </a:rPr>
              <a:t>Storms, theft:</a:t>
            </a:r>
            <a:r>
              <a:rPr sz="1100" b="0" i="0">
                <a:solidFill>
                  <a:srgbClr val="1F2937"/>
                </a:solidFill>
                <a:latin typeface="Arial"/>
              </a:rPr>
              <a:t> quick-release line, electronics retrieved before a typhoon.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TextBox 81"/>
          <p:cNvSpPr txBox="1"/>
          <p:nvPr/>
        </p:nvSpPr>
        <p:spPr>
          <a:xfrm>
            <a:off x="1463040" y="365760"/>
            <a:ext cx="7223760" cy="640080"/>
          </a:xfrm>
          <a:prstGeom prst="rect">
            <a:avLst/>
          </a:prstGeom>
          <a:noFill/>
        </p:spPr>
        <p:txBody>
          <a:bodyPr wrap="square" anchor="ctr">
            <a:spAutoFit/>
          </a:bodyPr>
          <a:lstStyle/>
          <a:p>
            <a:r>
              <a:rPr sz="1400" b="1" i="0">
                <a:solidFill>
                  <a:srgbClr val="0B5D8F"/>
                </a:solidFill>
                <a:latin typeface="Arial"/>
              </a:rPr>
              <a:t>7. What impact do we hope to achieve, and what is the long-term vision?</a:t>
            </a:r>
          </a:p>
        </p:txBody>
      </p:sp>
      <p:sp>
        <p:nvSpPr>
          <p:cNvPr id="83" name="TextBox 82"/>
          <p:cNvSpPr txBox="1"/>
          <p:nvPr/>
        </p:nvSpPr>
        <p:spPr>
          <a:xfrm>
            <a:off x="365760" y="1417320"/>
            <a:ext cx="4206240" cy="2926080"/>
          </a:xfrm>
          <a:prstGeom prst="rect">
            <a:avLst/>
          </a:prstGeom>
          <a:noFill/>
        </p:spPr>
        <p:txBody>
          <a:bodyPr wrap="square" lIns="45720" rIns="45720" tIns="27432" bIns="27432">
            <a:spAutoFit/>
          </a:bodyPr>
          <a:lstStyle/>
          <a:p>
            <a:pPr>
              <a:lnSpc>
                <a:spcPct val="100000"/>
              </a:lnSpc>
              <a:spcBef>
                <a:spcPts val="400"/>
              </a:spcBef>
              <a:spcAft>
                <a:spcPts val="0"/>
              </a:spcAft>
            </a:pPr>
            <a:r>
              <a:rPr sz="1100" b="0" i="0">
                <a:solidFill>
                  <a:srgbClr val="1F2937"/>
                </a:solidFill>
                <a:latin typeface="Arial"/>
              </a:rPr>
              <a:t>Success means plastic lifted from a real creek and a trustworthy weekly record of what it was. One unit lifts little, so the value lies in a design cheap enough to copy and data open enough to combine.</a:t>
            </a:r>
          </a:p>
          <a:p>
            <a:pPr>
              <a:lnSpc>
                <a:spcPct val="100000"/>
              </a:lnSpc>
              <a:spcBef>
                <a:spcPts val="400"/>
              </a:spcBef>
              <a:spcAft>
                <a:spcPts val="0"/>
              </a:spcAft>
            </a:pPr>
            <a:r>
              <a:rPr sz="1100" b="1" i="0">
                <a:solidFill>
                  <a:srgbClr val="1F2937"/>
                </a:solidFill>
                <a:latin typeface="Arial"/>
              </a:rPr>
              <a:t>Measurable Outcomes:</a:t>
            </a:r>
          </a:p>
          <a:p>
            <a:pPr>
              <a:lnSpc>
                <a:spcPct val="100000"/>
              </a:lnSpc>
              <a:spcBef>
                <a:spcPts val="400"/>
              </a:spcBef>
              <a:spcAft>
                <a:spcPts val="0"/>
              </a:spcAft>
            </a:pPr>
            <a:r>
              <a:rPr sz="1100" b="1" i="0">
                <a:solidFill>
                  <a:srgbClr val="1F2937"/>
                </a:solidFill>
                <a:latin typeface="Arial"/>
              </a:rPr>
              <a:t>1. Less plastic:</a:t>
            </a:r>
            <a:r>
              <a:rPr sz="1100" b="0" i="0">
                <a:solidFill>
                  <a:srgbClr val="1F2937"/>
                </a:solidFill>
                <a:latin typeface="Arial"/>
              </a:rPr>
              <a:t> at least [TARGET] kg lifted in 8 weeks, capture rate of at least [X]% against the baseline.</a:t>
            </a:r>
          </a:p>
          <a:p>
            <a:pPr>
              <a:lnSpc>
                <a:spcPct val="100000"/>
              </a:lnSpc>
              <a:spcBef>
                <a:spcPts val="400"/>
              </a:spcBef>
              <a:spcAft>
                <a:spcPts val="0"/>
              </a:spcAft>
            </a:pPr>
            <a:r>
              <a:rPr sz="1100" b="1" i="0">
                <a:solidFill>
                  <a:srgbClr val="1F2937"/>
                </a:solidFill>
                <a:latin typeface="Arial"/>
              </a:rPr>
              <a:t>2. Trustworthy counts:</a:t>
            </a:r>
            <a:r>
              <a:rPr sz="1100" b="0" i="0">
                <a:solidFill>
                  <a:srgbClr val="1F2937"/>
                </a:solidFill>
                <a:latin typeface="Arial"/>
              </a:rPr>
              <a:t> weekly error of 15% or less against the hand audit, and 85% precision and recall on unseen places.</a:t>
            </a:r>
          </a:p>
          <a:p>
            <a:pPr>
              <a:lnSpc>
                <a:spcPct val="100000"/>
              </a:lnSpc>
              <a:spcBef>
                <a:spcPts val="400"/>
              </a:spcBef>
              <a:spcAft>
                <a:spcPts val="0"/>
              </a:spcAft>
            </a:pPr>
            <a:r>
              <a:rPr sz="1100" b="1" i="0">
                <a:solidFill>
                  <a:srgbClr val="1F2937"/>
                </a:solidFill>
                <a:latin typeface="Arial"/>
              </a:rPr>
              <a:t>3. Replication:</a:t>
            </a:r>
            <a:r>
              <a:rPr sz="1100" b="0" i="0">
                <a:solidFill>
                  <a:srgbClr val="1F2937"/>
                </a:solidFill>
                <a:latin typeface="Arial"/>
              </a:rPr>
              <a:t> 2+ more sites by March 2027 at about PHP 6,000 each, sharing one open data format.</a:t>
            </a:r>
          </a:p>
        </p:txBody>
      </p:sp>
      <p:sp>
        <p:nvSpPr>
          <p:cNvPr id="84" name="TextBox 83"/>
          <p:cNvSpPr txBox="1"/>
          <p:nvPr/>
        </p:nvSpPr>
        <p:spPr>
          <a:xfrm>
            <a:off x="4663440" y="1005840"/>
            <a:ext cx="4160520" cy="3200400"/>
          </a:xfrm>
          <a:prstGeom prst="rect">
            <a:avLst/>
          </a:prstGeom>
          <a:noFill/>
        </p:spPr>
        <p:txBody>
          <a:bodyPr wrap="square" lIns="45720" rIns="45720" tIns="27432" bIns="27432">
            <a:spAutoFit/>
          </a:bodyPr>
          <a:lstStyle/>
          <a:p>
            <a:pPr>
              <a:lnSpc>
                <a:spcPct val="100000"/>
              </a:lnSpc>
              <a:spcBef>
                <a:spcPts val="400"/>
              </a:spcBef>
              <a:spcAft>
                <a:spcPts val="0"/>
              </a:spcAft>
            </a:pPr>
            <a:r>
              <a:rPr sz="1100" b="1" i="0">
                <a:solidFill>
                  <a:srgbClr val="1F2937"/>
                </a:solidFill>
                <a:latin typeface="Arial"/>
              </a:rPr>
              <a:t>Long-Term Vision:</a:t>
            </a:r>
            <a:r>
              <a:rPr sz="1100" b="0" i="0">
                <a:solidFill>
                  <a:srgbClr val="1F2937"/>
                </a:solidFill>
                <a:latin typeface="Arial"/>
              </a:rPr>
              <a:t> a student-built, barangay-owned network of units along connected creeks, feeding one open dataset that shows where plastic enters, which products dominate and whether EPR commitments change what the water carries. Planned upgrades are a belt conveyor for higher volumes and a second camera angle. Each barangay added makes every unit's data more valuable. The pilot proves the method at one creek and claims no more.</a:t>
            </a:r>
          </a:p>
        </p:txBody>
      </p:sp>
      <p:sp>
        <p:nvSpPr>
          <p:cNvPr id="85" name="Rounded Rectangle 84"/>
          <p:cNvSpPr/>
          <p:nvPr/>
        </p:nvSpPr>
        <p:spPr>
          <a:xfrm>
            <a:off x="457200" y="4389120"/>
            <a:ext cx="8229600" cy="566928"/>
          </a:xfrm>
          <a:prstGeom prst="roundRect">
            <a:avLst/>
          </a:prstGeom>
          <a:solidFill>
            <a:srgbClr val="FFF4CC"/>
          </a:solidFill>
          <a:ln>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1F2937"/>
                </a:solidFill>
                <a:latin typeface="Arial"/>
              </a:rPr>
              <a:t>Key Takeaway:</a:t>
            </a:r>
            <a:r>
              <a:rPr sz="1100" b="0" i="0">
                <a:solidFill>
                  <a:srgbClr val="1F2937"/>
                </a:solidFill>
                <a:latin typeface="Arial"/>
              </a:rPr>
              <a:t> The Philippines already knows who makes much of its plastic. SAGIP makes the proof continuous, cheap and community-owned, and lifts some of the plastic out along the way.</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